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5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91" r:id="rId2"/>
  </p:sldMasterIdLst>
  <p:notesMasterIdLst>
    <p:notesMasterId r:id="rId29"/>
  </p:notesMasterIdLst>
  <p:sldIdLst>
    <p:sldId id="256" r:id="rId3"/>
    <p:sldId id="1698" r:id="rId4"/>
    <p:sldId id="1716" r:id="rId5"/>
    <p:sldId id="1701" r:id="rId6"/>
    <p:sldId id="1715" r:id="rId7"/>
    <p:sldId id="1703" r:id="rId8"/>
    <p:sldId id="1719" r:id="rId9"/>
    <p:sldId id="1702" r:id="rId10"/>
    <p:sldId id="1705" r:id="rId11"/>
    <p:sldId id="1704" r:id="rId12"/>
    <p:sldId id="1720" r:id="rId13"/>
    <p:sldId id="1707" r:id="rId14"/>
    <p:sldId id="1709" r:id="rId15"/>
    <p:sldId id="1708" r:id="rId16"/>
    <p:sldId id="1710" r:id="rId17"/>
    <p:sldId id="1721" r:id="rId18"/>
    <p:sldId id="1686" r:id="rId19"/>
    <p:sldId id="1713" r:id="rId20"/>
    <p:sldId id="1711" r:id="rId21"/>
    <p:sldId id="1712" r:id="rId22"/>
    <p:sldId id="1722" r:id="rId23"/>
    <p:sldId id="1723" r:id="rId24"/>
    <p:sldId id="1725" r:id="rId25"/>
    <p:sldId id="1726" r:id="rId26"/>
    <p:sldId id="1724" r:id="rId27"/>
    <p:sldId id="1699" r:id="rId2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" initials="PHR" lastIdx="5" clrIdx="0">
    <p:extLst>
      <p:ext uri="{19B8F6BF-5375-455C-9EA6-DF929625EA0E}">
        <p15:presenceInfo xmlns:p15="http://schemas.microsoft.com/office/powerpoint/2012/main" userId="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0070C0"/>
    <a:srgbClr val="F2F2F2"/>
    <a:srgbClr val="B482DA"/>
    <a:srgbClr val="F23C00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36"/>
    <p:restoredTop sz="84409"/>
  </p:normalViewPr>
  <p:slideViewPr>
    <p:cSldViewPr snapToGrid="0" snapToObjects="1">
      <p:cViewPr>
        <p:scale>
          <a:sx n="75" d="100"/>
          <a:sy n="75" d="100"/>
        </p:scale>
        <p:origin x="775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CC2E-754B-46CE-AFE6-4A8E76A05B9B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7B6F6-2299-49C9-9104-FAE3D0E938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61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082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223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497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285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966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78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18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10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325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268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498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867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597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035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078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297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912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084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163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577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2812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145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5052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8247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081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7B6F6-2299-49C9-9104-FAE3D0E938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68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Template/Home.shtml" TargetMode="External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officeplus.cn/Template/Home.shtml" TargetMode="Externa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"/>
            <a:ext cx="12192000" cy="1939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98765" y="3852285"/>
            <a:ext cx="11194472" cy="1714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597367" y="5677703"/>
            <a:ext cx="6997267" cy="331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2597367" y="6009490"/>
            <a:ext cx="6997267" cy="331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cxnSp>
        <p:nvCxnSpPr>
          <p:cNvPr id="7" name="直接连接符 10"/>
          <p:cNvCxnSpPr/>
          <p:nvPr userDrawn="1"/>
        </p:nvCxnSpPr>
        <p:spPr>
          <a:xfrm>
            <a:off x="1947333" y="5566867"/>
            <a:ext cx="828040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0" y="193964"/>
            <a:ext cx="12192000" cy="332653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597367" y="541050"/>
            <a:ext cx="6997267" cy="7474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" name="直接连接符 31"/>
          <p:cNvCxnSpPr/>
          <p:nvPr userDrawn="1"/>
        </p:nvCxnSpPr>
        <p:spPr>
          <a:xfrm>
            <a:off x="5250361" y="1286460"/>
            <a:ext cx="1680521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2597367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2597367" y="5569527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2597367" y="1939636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5229835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5229834" y="5568804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 userDrawn="1"/>
        </p:nvCxnSpPr>
        <p:spPr>
          <a:xfrm>
            <a:off x="5229834" y="1938913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7862303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862303" y="5568081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3" name="直线连接符 12"/>
          <p:cNvCxnSpPr/>
          <p:nvPr userDrawn="1"/>
        </p:nvCxnSpPr>
        <p:spPr>
          <a:xfrm>
            <a:off x="7862303" y="1938190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17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597367" y="541050"/>
            <a:ext cx="6997267" cy="7474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" name="直接连接符 31"/>
          <p:cNvCxnSpPr/>
          <p:nvPr userDrawn="1"/>
        </p:nvCxnSpPr>
        <p:spPr>
          <a:xfrm>
            <a:off x="5250361" y="1286460"/>
            <a:ext cx="1680521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39110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1239110" y="5569527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1239110" y="1939636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917313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3917311" y="5568804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 userDrawn="1"/>
        </p:nvCxnSpPr>
        <p:spPr>
          <a:xfrm>
            <a:off x="3917311" y="1938913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6595516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6595516" y="5568081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3" name="直线连接符 12"/>
          <p:cNvCxnSpPr/>
          <p:nvPr userDrawn="1"/>
        </p:nvCxnSpPr>
        <p:spPr>
          <a:xfrm>
            <a:off x="6595516" y="1938190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9273718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8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9273718" y="5567358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9" name="直线连接符 18"/>
          <p:cNvCxnSpPr/>
          <p:nvPr userDrawn="1"/>
        </p:nvCxnSpPr>
        <p:spPr>
          <a:xfrm>
            <a:off x="9273718" y="1937467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51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597367" y="541050"/>
            <a:ext cx="6997267" cy="7474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" name="直接连接符 31"/>
          <p:cNvCxnSpPr/>
          <p:nvPr userDrawn="1"/>
        </p:nvCxnSpPr>
        <p:spPr>
          <a:xfrm>
            <a:off x="5250361" y="1286460"/>
            <a:ext cx="1680521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906601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906601" y="5569527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906601" y="1939636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074580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3081143" y="5568804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 userDrawn="1"/>
        </p:nvCxnSpPr>
        <p:spPr>
          <a:xfrm>
            <a:off x="3081143" y="1938913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59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5235996" y="5568081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3" name="直线连接符 12"/>
          <p:cNvCxnSpPr/>
          <p:nvPr userDrawn="1"/>
        </p:nvCxnSpPr>
        <p:spPr>
          <a:xfrm>
            <a:off x="5235996" y="1938190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7410538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7410538" y="5567358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6" name="直线连接符 15"/>
          <p:cNvCxnSpPr/>
          <p:nvPr userDrawn="1"/>
        </p:nvCxnSpPr>
        <p:spPr>
          <a:xfrm>
            <a:off x="7410538" y="1937467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9578518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8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9578518" y="5567358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9" name="直线连接符 18"/>
          <p:cNvCxnSpPr/>
          <p:nvPr userDrawn="1"/>
        </p:nvCxnSpPr>
        <p:spPr>
          <a:xfrm>
            <a:off x="9578518" y="1937467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597367" y="541050"/>
            <a:ext cx="6997267" cy="7474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" name="直接连接符 31"/>
          <p:cNvCxnSpPr/>
          <p:nvPr userDrawn="1"/>
        </p:nvCxnSpPr>
        <p:spPr>
          <a:xfrm>
            <a:off x="5250361" y="1286460"/>
            <a:ext cx="1680521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684929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684929" y="5569527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684929" y="1939636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48108" y="1938190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554671" y="5568804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 userDrawn="1"/>
        </p:nvCxnSpPr>
        <p:spPr>
          <a:xfrm>
            <a:off x="2554671" y="1938913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411287" y="1937467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4411287" y="5568804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22" name="直线连接符 21"/>
          <p:cNvCxnSpPr/>
          <p:nvPr userDrawn="1"/>
        </p:nvCxnSpPr>
        <p:spPr>
          <a:xfrm>
            <a:off x="4411287" y="1938913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6274466" y="1937467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6281029" y="5568081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25" name="直线连接符 24"/>
          <p:cNvCxnSpPr/>
          <p:nvPr userDrawn="1"/>
        </p:nvCxnSpPr>
        <p:spPr>
          <a:xfrm>
            <a:off x="6281029" y="1938190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8137645" y="1936744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8137645" y="5568081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28" name="直线连接符 27"/>
          <p:cNvCxnSpPr/>
          <p:nvPr userDrawn="1"/>
        </p:nvCxnSpPr>
        <p:spPr>
          <a:xfrm>
            <a:off x="8137645" y="1938190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10000824" y="1936744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0" name="文本占位符 3"/>
          <p:cNvSpPr>
            <a:spLocks noGrp="1"/>
          </p:cNvSpPr>
          <p:nvPr>
            <p:ph type="body" sz="quarter" idx="22" hasCustomPrompt="1"/>
          </p:nvPr>
        </p:nvSpPr>
        <p:spPr>
          <a:xfrm>
            <a:off x="10007387" y="5567358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31" name="直线连接符 30"/>
          <p:cNvCxnSpPr/>
          <p:nvPr userDrawn="1"/>
        </p:nvCxnSpPr>
        <p:spPr>
          <a:xfrm>
            <a:off x="10007387" y="1937467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1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"/>
            <a:ext cx="12192000" cy="4987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31258" y="83488"/>
            <a:ext cx="11949906" cy="3044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1128274" y="1577971"/>
            <a:ext cx="1732331" cy="11353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128274" y="5209308"/>
            <a:ext cx="1732331" cy="4156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cxnSp>
        <p:nvCxnSpPr>
          <p:cNvPr id="6" name="直线连接符 5"/>
          <p:cNvCxnSpPr/>
          <p:nvPr userDrawn="1"/>
        </p:nvCxnSpPr>
        <p:spPr>
          <a:xfrm>
            <a:off x="1128274" y="1579417"/>
            <a:ext cx="0" cy="4045527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3685309" y="498764"/>
            <a:ext cx="8506691" cy="63592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"/>
            <a:ext cx="12192000" cy="4987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31258" y="83488"/>
            <a:ext cx="11949906" cy="3044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宋体" panose="02010600030101010101" pitchFamily="2" charset="-122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宋体" panose="02010600030101010101" pitchFamily="2" charset="-122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3351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模板使用技巧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 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B43CCB-1998-4484-B269-9ACB654ACB71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一键调整模板颜色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F1532F4-AF97-400D-84E6-F00D2B3D35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A7E11C8-4335-45B0-A270-313A25ABC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0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5615889-3ACE-4C91-970F-789D759EAC1E}"/>
              </a:ext>
            </a:extLst>
          </p:cNvPr>
          <p:cNvSpPr txBox="1"/>
          <p:nvPr userDrawn="1"/>
        </p:nvSpPr>
        <p:spPr>
          <a:xfrm>
            <a:off x="333477" y="6061002"/>
            <a:ext cx="318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选择“设计”</a:t>
            </a:r>
            <a:r>
              <a:rPr kumimoji="0" lang="en-US" altLang="zh-CN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“变体”</a:t>
            </a:r>
            <a:r>
              <a:rPr kumimoji="0" lang="en-US" altLang="zh-CN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“颜色”；</a:t>
            </a:r>
            <a:endParaRPr kumimoji="0" lang="en-US" sz="1200" b="0" i="0" u="none" strike="noStrike" kern="1200" cap="none" spc="1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19D40D-978A-4E04-8450-F6DC61B85399}"/>
              </a:ext>
            </a:extLst>
          </p:cNvPr>
          <p:cNvSpPr txBox="1"/>
          <p:nvPr userDrawn="1"/>
        </p:nvSpPr>
        <p:spPr>
          <a:xfrm>
            <a:off x="6360651" y="6061002"/>
            <a:ext cx="4562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选择你喜欢的颜色搭配，模板一秒调整为你选颜色。</a:t>
            </a:r>
            <a:endParaRPr kumimoji="0" lang="en-US" sz="1200" b="0" i="0" u="none" strike="noStrike" kern="1200" cap="none" spc="1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99860AF-0C43-4649-A586-85D19517B6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05928" y="2609333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6130A4D-8EC7-4AC1-B434-55DC691028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87853" y="42571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370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4DB237-C74A-4BA8-A097-6A053DD3C747}"/>
              </a:ext>
            </a:extLst>
          </p:cNvPr>
          <p:cNvSpPr/>
          <p:nvPr userDrawn="1"/>
        </p:nvSpPr>
        <p:spPr>
          <a:xfrm>
            <a:off x="440603" y="759873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模板使用技巧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 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72DAD1-F67C-4AB8-ACEF-004237CB3D3F}"/>
              </a:ext>
            </a:extLst>
          </p:cNvPr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00B558-79C0-475E-84A0-11700A36C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FDE997-A67B-4FD0-B6AC-78D1EFE634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1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1E676E-E869-48CE-BFB9-1C7FC981B376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随时添加模板样式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68A42A-9DCD-4784-A3EF-F1D80ADC183F}"/>
              </a:ext>
            </a:extLst>
          </p:cNvPr>
          <p:cNvSpPr txBox="1"/>
          <p:nvPr userDrawn="1"/>
        </p:nvSpPr>
        <p:spPr>
          <a:xfrm>
            <a:off x="333477" y="6061002"/>
            <a:ext cx="3010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选择“开始”</a:t>
            </a:r>
            <a:r>
              <a:rPr kumimoji="0" lang="en-US" altLang="zh-CN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“新建幻灯片”；</a:t>
            </a:r>
            <a:endParaRPr kumimoji="0" lang="en-US" sz="1200" b="0" i="0" u="none" strike="noStrike" kern="1200" cap="none" spc="1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8689A3-CABF-445F-829F-6396154A55D1}"/>
              </a:ext>
            </a:extLst>
          </p:cNvPr>
          <p:cNvSpPr txBox="1"/>
          <p:nvPr userDrawn="1"/>
        </p:nvSpPr>
        <p:spPr>
          <a:xfrm>
            <a:off x="6360651" y="6061002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选择你需要的页面，如封面页，目录页，副标题页，内容页等</a:t>
            </a:r>
            <a:r>
              <a:rPr kumimoji="0" lang="en-US" altLang="zh-CN" sz="1200" b="0" i="0" u="none" strike="noStrike" kern="1200" cap="none" spc="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  <a:endParaRPr kumimoji="0" lang="en-US" sz="1200" b="0" i="0" u="none" strike="noStrike" kern="1200" cap="none" spc="15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7C9996A-24BA-4EE9-BA5A-589E184191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0878" y="24283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457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注服务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BB9638-2D2F-48B1-A8CF-673B237DCC1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0C7C91-35F0-46E5-B511-2314CED2655F}"/>
              </a:ext>
            </a:extLst>
          </p:cNvPr>
          <p:cNvSpPr/>
          <p:nvPr userDrawn="1"/>
        </p:nvSpPr>
        <p:spPr>
          <a:xfrm>
            <a:off x="1079465" y="1527629"/>
            <a:ext cx="3802742" cy="3802742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 descr="图片包含 纵横字谜, 文字&#10;&#10;已生成极高可信度的说明">
            <a:extLst>
              <a:ext uri="{FF2B5EF4-FFF2-40B4-BE49-F238E27FC236}">
                <a16:creationId xmlns:a16="http://schemas.microsoft.com/office/drawing/2014/main" id="{25779B21-3BC1-4E47-8650-6B0E785B5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8065" y="1756229"/>
            <a:ext cx="3345542" cy="33455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3024A3-25F7-4B9A-9876-36F35421F6E6}"/>
              </a:ext>
            </a:extLst>
          </p:cNvPr>
          <p:cNvSpPr txBox="1"/>
          <p:nvPr userDrawn="1"/>
        </p:nvSpPr>
        <p:spPr>
          <a:xfrm>
            <a:off x="5239657" y="1566506"/>
            <a:ext cx="6013185" cy="3549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办公模板更新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微软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微信扫码关注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「 微软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」服务号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>
            <a:hlinkClick r:id="rId3"/>
            <a:extLst>
              <a:ext uri="{FF2B5EF4-FFF2-40B4-BE49-F238E27FC236}">
                <a16:creationId xmlns:a16="http://schemas.microsoft.com/office/drawing/2014/main" id="{5524D02C-49CE-4D3D-8B89-07CEC3966F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70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使用小程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71CC84-193F-4D28-98D9-17F9952F968C}"/>
              </a:ext>
            </a:extLst>
          </p:cNvPr>
          <p:cNvCxnSpPr/>
          <p:nvPr userDrawn="1"/>
        </p:nvCxnSpPr>
        <p:spPr>
          <a:xfrm>
            <a:off x="0" y="657288"/>
            <a:ext cx="12192000" cy="0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3A9F197-1133-4CEE-860F-85366976D0AC}"/>
              </a:ext>
            </a:extLst>
          </p:cNvPr>
          <p:cNvSpPr/>
          <p:nvPr userDrawn="1"/>
        </p:nvSpPr>
        <p:spPr>
          <a:xfrm>
            <a:off x="0" y="3091547"/>
            <a:ext cx="12192000" cy="3766453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954438-2CEB-4119-883B-8B9196F98504}"/>
              </a:ext>
            </a:extLst>
          </p:cNvPr>
          <p:cNvSpPr/>
          <p:nvPr userDrawn="1"/>
        </p:nvSpPr>
        <p:spPr>
          <a:xfrm>
            <a:off x="621395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D1A364-B227-4CFB-9287-6198C6C0443B}"/>
              </a:ext>
            </a:extLst>
          </p:cNvPr>
          <p:cNvSpPr/>
          <p:nvPr userDrawn="1"/>
        </p:nvSpPr>
        <p:spPr>
          <a:xfrm>
            <a:off x="4374467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A6AD26-5781-4DAD-8C16-8C73B2C177AD}"/>
              </a:ext>
            </a:extLst>
          </p:cNvPr>
          <p:cNvSpPr txBox="1"/>
          <p:nvPr userDrawn="1"/>
        </p:nvSpPr>
        <p:spPr>
          <a:xfrm>
            <a:off x="1656327" y="286129"/>
            <a:ext cx="8879354" cy="67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微信扫描小程序码，使用微软移动办公黑科技 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806FD0-33B9-40F1-B8F9-079524CA002C}"/>
              </a:ext>
            </a:extLst>
          </p:cNvPr>
          <p:cNvCxnSpPr>
            <a:cxnSpLocks/>
          </p:cNvCxnSpPr>
          <p:nvPr userDrawn="1"/>
        </p:nvCxnSpPr>
        <p:spPr>
          <a:xfrm flipH="1">
            <a:off x="1523089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59FFD7E-3944-43A3-A5DD-D8673483D04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443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76706F4-B20C-489C-ACB9-010EF43FEF70}"/>
              </a:ext>
            </a:extLst>
          </p:cNvPr>
          <p:cNvSpPr/>
          <p:nvPr userDrawn="1"/>
        </p:nvSpPr>
        <p:spPr>
          <a:xfrm>
            <a:off x="8159751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50F7A0F-4C8A-4DA1-8AA3-1810FF4E70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924" t="13924" r="13924" b="13924"/>
          <a:stretch/>
        </p:blipFill>
        <p:spPr>
          <a:xfrm>
            <a:off x="4705130" y="1673081"/>
            <a:ext cx="2743200" cy="2743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60AD2DE-F13F-4332-90AE-87C7001EAD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439" r="14439"/>
          <a:stretch/>
        </p:blipFill>
        <p:spPr>
          <a:xfrm>
            <a:off x="8519321" y="1673081"/>
            <a:ext cx="2743200" cy="2743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9418449-E7C2-4E37-8045-DD4782B125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965" y="1673081"/>
            <a:ext cx="2743200" cy="27432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A11A6D6-1DBD-4A10-8942-D3DDC4E182E9}"/>
              </a:ext>
            </a:extLst>
          </p:cNvPr>
          <p:cNvSpPr txBox="1"/>
          <p:nvPr userDrawn="1"/>
        </p:nvSpPr>
        <p:spPr>
          <a:xfrm>
            <a:off x="987447" y="5138740"/>
            <a:ext cx="2730235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alpha val="77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在微信访问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alpha val="77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OneDrive</a:t>
            </a: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74E825-3465-469E-BD06-097F250CA889}"/>
              </a:ext>
            </a:extLst>
          </p:cNvPr>
          <p:cNvSpPr txBox="1"/>
          <p:nvPr userDrawn="1"/>
        </p:nvSpPr>
        <p:spPr>
          <a:xfrm>
            <a:off x="4862328" y="5138740"/>
            <a:ext cx="2467342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alpha val="77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让你的文档会说话</a:t>
            </a: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prstClr val="white">
                  <a:alpha val="77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微软听听文档 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C4AC92-2800-4841-84A3-26E495F2D178}"/>
              </a:ext>
            </a:extLst>
          </p:cNvPr>
          <p:cNvSpPr txBox="1"/>
          <p:nvPr userDrawn="1"/>
        </p:nvSpPr>
        <p:spPr>
          <a:xfrm>
            <a:off x="8644425" y="5138740"/>
            <a:ext cx="2492990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alpha val="77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你的文档创作小助手</a:t>
            </a:r>
            <a:endParaRPr kumimoji="0" lang="en-US" altLang="zh-CN" sz="2000" b="0" i="0" u="none" strike="noStrike" kern="0" cap="none" spc="0" normalizeH="0" baseline="0" noProof="0">
              <a:ln>
                <a:noFill/>
              </a:ln>
              <a:solidFill>
                <a:prstClr val="white">
                  <a:alpha val="77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微软小蜜 」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D082CA-914B-42B8-A86E-16893B7234C9}"/>
              </a:ext>
            </a:extLst>
          </p:cNvPr>
          <p:cNvCxnSpPr/>
          <p:nvPr userDrawn="1"/>
        </p:nvCxnSpPr>
        <p:spPr>
          <a:xfrm>
            <a:off x="419803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21E3BB-42AC-4DCD-9031-7215136A1844}"/>
              </a:ext>
            </a:extLst>
          </p:cNvPr>
          <p:cNvCxnSpPr/>
          <p:nvPr userDrawn="1"/>
        </p:nvCxnSpPr>
        <p:spPr>
          <a:xfrm>
            <a:off x="797621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hlinkClick r:id="rId5"/>
            <a:extLst>
              <a:ext uri="{FF2B5EF4-FFF2-40B4-BE49-F238E27FC236}">
                <a16:creationId xmlns:a16="http://schemas.microsoft.com/office/drawing/2014/main" id="{46C855E7-2DCA-4970-A954-7CB7F69FADA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4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9" r:id="rId2"/>
    <p:sldLayoutId id="2147483688" r:id="rId3"/>
    <p:sldLayoutId id="2147483684" r:id="rId4"/>
    <p:sldLayoutId id="2147483687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71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24.wmf"/><Relationship Id="rId5" Type="http://schemas.openxmlformats.org/officeDocument/2006/relationships/image" Target="../media/image27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6.png"/><Relationship Id="rId9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zhuanlan.zhihu.com/p/374516615" TargetMode="External"/><Relationship Id="rId3" Type="http://schemas.openxmlformats.org/officeDocument/2006/relationships/hyperlink" Target="https://arxiv.org/pdf/2006.06762.pdf" TargetMode="External"/><Relationship Id="rId7" Type="http://schemas.openxmlformats.org/officeDocument/2006/relationships/hyperlink" Target="https://aijishu.com/a/1060000000222107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zhuanlan.zhihu.com/p/360041136" TargetMode="External"/><Relationship Id="rId5" Type="http://schemas.openxmlformats.org/officeDocument/2006/relationships/hyperlink" Target="https://zhuanlan.zhihu.com/p/390783734" TargetMode="External"/><Relationship Id="rId4" Type="http://schemas.openxmlformats.org/officeDocument/2006/relationships/hyperlink" Target="https://github.com/apache/tvm" TargetMode="External"/><Relationship Id="rId9" Type="http://schemas.openxmlformats.org/officeDocument/2006/relationships/hyperlink" Target="https://zhuanlan.zhihu.com/p/34365446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093767" y="3260231"/>
            <a:ext cx="8004465" cy="771669"/>
          </a:xfrm>
        </p:spPr>
        <p:txBody>
          <a:bodyPr/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Tvm auto schedule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98791" y="4967845"/>
            <a:ext cx="245131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2022/3/22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shankun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399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D9799E5-7FA1-4761-921F-113AA7E16B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826" y="1056812"/>
            <a:ext cx="5057775" cy="5181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852E7EA-544F-48F9-8034-DEBCCF11754F}"/>
              </a:ext>
            </a:extLst>
          </p:cNvPr>
          <p:cNvSpPr txBox="1"/>
          <p:nvPr/>
        </p:nvSpPr>
        <p:spPr>
          <a:xfrm>
            <a:off x="4578973" y="71972"/>
            <a:ext cx="4920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AutoTvm2.0 auto schedule step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MH_SubTitle_2">
            <a:extLst>
              <a:ext uri="{FF2B5EF4-FFF2-40B4-BE49-F238E27FC236}">
                <a16:creationId xmlns:a16="http://schemas.microsoft.com/office/drawing/2014/main" id="{45A6DB56-D153-4C86-8B05-9BC819C2A1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6200000">
            <a:off x="8729007" y="1776709"/>
            <a:ext cx="491255" cy="310885"/>
          </a:xfrm>
          <a:custGeom>
            <a:avLst/>
            <a:gdLst>
              <a:gd name="connsiteX0" fmla="*/ 520353 w 3024977"/>
              <a:gd name="connsiteY0" fmla="*/ 0 h 790148"/>
              <a:gd name="connsiteX1" fmla="*/ 520353 w 3024977"/>
              <a:gd name="connsiteY1" fmla="*/ 154147 h 790148"/>
              <a:gd name="connsiteX2" fmla="*/ 3024977 w 3024977"/>
              <a:gd name="connsiteY2" fmla="*/ 154147 h 790148"/>
              <a:gd name="connsiteX3" fmla="*/ 3024977 w 3024977"/>
              <a:gd name="connsiteY3" fmla="*/ 636001 h 790148"/>
              <a:gd name="connsiteX4" fmla="*/ 520353 w 3024977"/>
              <a:gd name="connsiteY4" fmla="*/ 636001 h 790148"/>
              <a:gd name="connsiteX5" fmla="*/ 520353 w 3024977"/>
              <a:gd name="connsiteY5" fmla="*/ 790148 h 790148"/>
              <a:gd name="connsiteX6" fmla="*/ 0 w 3024977"/>
              <a:gd name="connsiteY6" fmla="*/ 395074 h 79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4977" h="790148">
                <a:moveTo>
                  <a:pt x="520353" y="0"/>
                </a:moveTo>
                <a:lnTo>
                  <a:pt x="520353" y="154147"/>
                </a:lnTo>
                <a:lnTo>
                  <a:pt x="3024977" y="154147"/>
                </a:lnTo>
                <a:lnTo>
                  <a:pt x="3024977" y="636001"/>
                </a:lnTo>
                <a:lnTo>
                  <a:pt x="520353" y="636001"/>
                </a:lnTo>
                <a:lnTo>
                  <a:pt x="520353" y="790148"/>
                </a:lnTo>
                <a:lnTo>
                  <a:pt x="0" y="39507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algn="ctr"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E1725B-656C-4DD8-9E46-7365E9E6136B}"/>
              </a:ext>
            </a:extLst>
          </p:cNvPr>
          <p:cNvSpPr txBox="1"/>
          <p:nvPr/>
        </p:nvSpPr>
        <p:spPr>
          <a:xfrm>
            <a:off x="6366099" y="1215541"/>
            <a:ext cx="55809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F4E79"/>
                </a:solidFill>
              </a:rPr>
              <a:t>Partitioned subgraphs  ex: (conv + bn + relu) as a sub</a:t>
            </a:r>
            <a:endParaRPr lang="zh-CN" alt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7F6C9B-B6C6-4FD0-BA6A-3AB8F4EE8959}"/>
              </a:ext>
            </a:extLst>
          </p:cNvPr>
          <p:cNvSpPr txBox="1"/>
          <p:nvPr/>
        </p:nvSpPr>
        <p:spPr>
          <a:xfrm>
            <a:off x="6175601" y="2190694"/>
            <a:ext cx="5918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F4E79"/>
                </a:solidFill>
              </a:rPr>
              <a:t>Select the top revenue maximization subgraph to optimize</a:t>
            </a:r>
            <a:endParaRPr lang="zh-CN" altLang="en-US" sz="1600" dirty="0"/>
          </a:p>
        </p:txBody>
      </p:sp>
      <p:sp>
        <p:nvSpPr>
          <p:cNvPr id="20" name="MH_SubTitle_2">
            <a:extLst>
              <a:ext uri="{FF2B5EF4-FFF2-40B4-BE49-F238E27FC236}">
                <a16:creationId xmlns:a16="http://schemas.microsoft.com/office/drawing/2014/main" id="{3EC3D868-8259-470D-B47C-0F29C83684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>
            <a:off x="8725964" y="2781423"/>
            <a:ext cx="491255" cy="310885"/>
          </a:xfrm>
          <a:custGeom>
            <a:avLst/>
            <a:gdLst>
              <a:gd name="connsiteX0" fmla="*/ 520353 w 3024977"/>
              <a:gd name="connsiteY0" fmla="*/ 0 h 790148"/>
              <a:gd name="connsiteX1" fmla="*/ 520353 w 3024977"/>
              <a:gd name="connsiteY1" fmla="*/ 154147 h 790148"/>
              <a:gd name="connsiteX2" fmla="*/ 3024977 w 3024977"/>
              <a:gd name="connsiteY2" fmla="*/ 154147 h 790148"/>
              <a:gd name="connsiteX3" fmla="*/ 3024977 w 3024977"/>
              <a:gd name="connsiteY3" fmla="*/ 636001 h 790148"/>
              <a:gd name="connsiteX4" fmla="*/ 520353 w 3024977"/>
              <a:gd name="connsiteY4" fmla="*/ 636001 h 790148"/>
              <a:gd name="connsiteX5" fmla="*/ 520353 w 3024977"/>
              <a:gd name="connsiteY5" fmla="*/ 790148 h 790148"/>
              <a:gd name="connsiteX6" fmla="*/ 0 w 3024977"/>
              <a:gd name="connsiteY6" fmla="*/ 395074 h 79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4977" h="790148">
                <a:moveTo>
                  <a:pt x="520353" y="0"/>
                </a:moveTo>
                <a:lnTo>
                  <a:pt x="520353" y="154147"/>
                </a:lnTo>
                <a:lnTo>
                  <a:pt x="3024977" y="154147"/>
                </a:lnTo>
                <a:lnTo>
                  <a:pt x="3024977" y="636001"/>
                </a:lnTo>
                <a:lnTo>
                  <a:pt x="520353" y="636001"/>
                </a:lnTo>
                <a:lnTo>
                  <a:pt x="520353" y="790148"/>
                </a:lnTo>
                <a:lnTo>
                  <a:pt x="0" y="39507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algn="ctr"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4361EC-4531-4B4E-ABAE-6E7604DE4B33}"/>
              </a:ext>
            </a:extLst>
          </p:cNvPr>
          <p:cNvSpPr txBox="1"/>
          <p:nvPr/>
        </p:nvSpPr>
        <p:spPr>
          <a:xfrm>
            <a:off x="4895949" y="3252551"/>
            <a:ext cx="7198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F4E79"/>
                </a:solidFill>
              </a:rPr>
              <a:t>                      Generate some sketches and initialize random parameters </a:t>
            </a:r>
            <a:endParaRPr lang="zh-CN" altLang="en-US" sz="1600" dirty="0"/>
          </a:p>
        </p:txBody>
      </p:sp>
      <p:sp>
        <p:nvSpPr>
          <p:cNvPr id="22" name="MH_SubTitle_2">
            <a:extLst>
              <a:ext uri="{FF2B5EF4-FFF2-40B4-BE49-F238E27FC236}">
                <a16:creationId xmlns:a16="http://schemas.microsoft.com/office/drawing/2014/main" id="{0D5FA02E-1D5D-4AA4-AA18-6598E95612E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6200000">
            <a:off x="8701791" y="3866199"/>
            <a:ext cx="491255" cy="310885"/>
          </a:xfrm>
          <a:custGeom>
            <a:avLst/>
            <a:gdLst>
              <a:gd name="connsiteX0" fmla="*/ 520353 w 3024977"/>
              <a:gd name="connsiteY0" fmla="*/ 0 h 790148"/>
              <a:gd name="connsiteX1" fmla="*/ 520353 w 3024977"/>
              <a:gd name="connsiteY1" fmla="*/ 154147 h 790148"/>
              <a:gd name="connsiteX2" fmla="*/ 3024977 w 3024977"/>
              <a:gd name="connsiteY2" fmla="*/ 154147 h 790148"/>
              <a:gd name="connsiteX3" fmla="*/ 3024977 w 3024977"/>
              <a:gd name="connsiteY3" fmla="*/ 636001 h 790148"/>
              <a:gd name="connsiteX4" fmla="*/ 520353 w 3024977"/>
              <a:gd name="connsiteY4" fmla="*/ 636001 h 790148"/>
              <a:gd name="connsiteX5" fmla="*/ 520353 w 3024977"/>
              <a:gd name="connsiteY5" fmla="*/ 790148 h 790148"/>
              <a:gd name="connsiteX6" fmla="*/ 0 w 3024977"/>
              <a:gd name="connsiteY6" fmla="*/ 395074 h 79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4977" h="790148">
                <a:moveTo>
                  <a:pt x="520353" y="0"/>
                </a:moveTo>
                <a:lnTo>
                  <a:pt x="520353" y="154147"/>
                </a:lnTo>
                <a:lnTo>
                  <a:pt x="3024977" y="154147"/>
                </a:lnTo>
                <a:lnTo>
                  <a:pt x="3024977" y="636001"/>
                </a:lnTo>
                <a:lnTo>
                  <a:pt x="520353" y="636001"/>
                </a:lnTo>
                <a:lnTo>
                  <a:pt x="520353" y="790148"/>
                </a:lnTo>
                <a:lnTo>
                  <a:pt x="0" y="39507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algn="ctr"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F09997B-AE55-424D-8B9B-E05333F80524}"/>
              </a:ext>
            </a:extLst>
          </p:cNvPr>
          <p:cNvSpPr txBox="1"/>
          <p:nvPr/>
        </p:nvSpPr>
        <p:spPr>
          <a:xfrm>
            <a:off x="6458629" y="4414201"/>
            <a:ext cx="5635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F4E79"/>
                </a:solidFill>
              </a:rPr>
              <a:t>                   Search a set of parameters</a:t>
            </a:r>
            <a:endParaRPr lang="zh-CN" altLang="en-US" sz="1600" dirty="0"/>
          </a:p>
        </p:txBody>
      </p:sp>
      <p:sp>
        <p:nvSpPr>
          <p:cNvPr id="24" name="MH_SubTitle_2">
            <a:extLst>
              <a:ext uri="{FF2B5EF4-FFF2-40B4-BE49-F238E27FC236}">
                <a16:creationId xmlns:a16="http://schemas.microsoft.com/office/drawing/2014/main" id="{A09853D1-6036-46AE-A5EF-6A70EE58426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6200000">
            <a:off x="8721638" y="5055415"/>
            <a:ext cx="491255" cy="310885"/>
          </a:xfrm>
          <a:custGeom>
            <a:avLst/>
            <a:gdLst>
              <a:gd name="connsiteX0" fmla="*/ 520353 w 3024977"/>
              <a:gd name="connsiteY0" fmla="*/ 0 h 790148"/>
              <a:gd name="connsiteX1" fmla="*/ 520353 w 3024977"/>
              <a:gd name="connsiteY1" fmla="*/ 154147 h 790148"/>
              <a:gd name="connsiteX2" fmla="*/ 3024977 w 3024977"/>
              <a:gd name="connsiteY2" fmla="*/ 154147 h 790148"/>
              <a:gd name="connsiteX3" fmla="*/ 3024977 w 3024977"/>
              <a:gd name="connsiteY3" fmla="*/ 636001 h 790148"/>
              <a:gd name="connsiteX4" fmla="*/ 520353 w 3024977"/>
              <a:gd name="connsiteY4" fmla="*/ 636001 h 790148"/>
              <a:gd name="connsiteX5" fmla="*/ 520353 w 3024977"/>
              <a:gd name="connsiteY5" fmla="*/ 790148 h 790148"/>
              <a:gd name="connsiteX6" fmla="*/ 0 w 3024977"/>
              <a:gd name="connsiteY6" fmla="*/ 395074 h 79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4977" h="790148">
                <a:moveTo>
                  <a:pt x="520353" y="0"/>
                </a:moveTo>
                <a:lnTo>
                  <a:pt x="520353" y="154147"/>
                </a:lnTo>
                <a:lnTo>
                  <a:pt x="3024977" y="154147"/>
                </a:lnTo>
                <a:lnTo>
                  <a:pt x="3024977" y="636001"/>
                </a:lnTo>
                <a:lnTo>
                  <a:pt x="520353" y="636001"/>
                </a:lnTo>
                <a:lnTo>
                  <a:pt x="520353" y="790148"/>
                </a:lnTo>
                <a:lnTo>
                  <a:pt x="0" y="39507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algn="ctr"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09CF32-0C3C-449E-A97D-F8AE24F92570}"/>
              </a:ext>
            </a:extLst>
          </p:cNvPr>
          <p:cNvSpPr txBox="1"/>
          <p:nvPr/>
        </p:nvSpPr>
        <p:spPr>
          <a:xfrm>
            <a:off x="6285161" y="5572801"/>
            <a:ext cx="5635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F4E79"/>
                </a:solidFill>
              </a:rPr>
              <a:t>    Measure and select the top k state to next round 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598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2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66266-8F7A-4B90-8A6A-06477FD7F38F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Partitioned subgraphs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5DD5B3-B34B-4CD6-809C-93A4968F5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48" y="478437"/>
            <a:ext cx="5527141" cy="56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7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892628"/>
            <a:ext cx="5580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Partitioned subgraphs</a:t>
            </a:r>
            <a:r>
              <a:rPr lang="zh-CN" altLang="en-US" sz="2000" dirty="0">
                <a:solidFill>
                  <a:srgbClr val="1F4E79"/>
                </a:solidFill>
              </a:rPr>
              <a:t>：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058A20-9C2B-489E-BF3F-10025E0BB1AC}"/>
              </a:ext>
            </a:extLst>
          </p:cNvPr>
          <p:cNvSpPr txBox="1"/>
          <p:nvPr/>
        </p:nvSpPr>
        <p:spPr>
          <a:xfrm>
            <a:off x="821871" y="1552191"/>
            <a:ext cx="1054825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1.</a:t>
            </a:r>
            <a:r>
              <a:rPr lang="zh-CN" altLang="en-US" sz="2000" dirty="0">
                <a:solidFill>
                  <a:srgbClr val="1F4E79"/>
                </a:solidFill>
              </a:rPr>
              <a:t>初始化</a:t>
            </a:r>
            <a:r>
              <a:rPr lang="en-US" altLang="zh-CN" sz="2000" dirty="0">
                <a:solidFill>
                  <a:srgbClr val="1F4E79"/>
                </a:solidFill>
              </a:rPr>
              <a:t>groups</a:t>
            </a:r>
          </a:p>
          <a:p>
            <a:r>
              <a:rPr lang="zh-CN" altLang="en-US" sz="2000" dirty="0">
                <a:solidFill>
                  <a:srgbClr val="1F4E79"/>
                </a:solidFill>
              </a:rPr>
              <a:t>          简单地把每个</a:t>
            </a:r>
            <a:r>
              <a:rPr lang="en-US" altLang="zh-CN" sz="2000" dirty="0">
                <a:solidFill>
                  <a:srgbClr val="1F4E79"/>
                </a:solidFill>
              </a:rPr>
              <a:t>Node</a:t>
            </a:r>
            <a:r>
              <a:rPr lang="zh-CN" altLang="en-US" sz="2000" dirty="0">
                <a:solidFill>
                  <a:srgbClr val="1F4E79"/>
                </a:solidFill>
              </a:rPr>
              <a:t>初始化为一个</a:t>
            </a:r>
            <a:r>
              <a:rPr lang="en-US" altLang="zh-CN" sz="2000" dirty="0">
                <a:solidFill>
                  <a:srgbClr val="1F4E79"/>
                </a:solidFill>
              </a:rPr>
              <a:t>Group</a:t>
            </a:r>
          </a:p>
          <a:p>
            <a:endParaRPr lang="en-US" altLang="zh-CN" sz="2000" dirty="0">
              <a:solidFill>
                <a:srgbClr val="1F4E79"/>
              </a:solidFill>
            </a:endParaRPr>
          </a:p>
          <a:p>
            <a:r>
              <a:rPr lang="en-US" altLang="zh-CN" sz="2000" dirty="0">
                <a:solidFill>
                  <a:srgbClr val="1F4E79"/>
                </a:solidFill>
              </a:rPr>
              <a:t>2.</a:t>
            </a:r>
            <a:r>
              <a:rPr lang="zh-CN" altLang="en-US" sz="2000" dirty="0">
                <a:solidFill>
                  <a:srgbClr val="1F4E79"/>
                </a:solidFill>
              </a:rPr>
              <a:t>建立支配树</a:t>
            </a:r>
            <a:endParaRPr lang="en-US" altLang="zh-CN" sz="2000" dirty="0">
              <a:solidFill>
                <a:srgbClr val="1F4E79"/>
              </a:solidFill>
            </a:endParaRPr>
          </a:p>
          <a:p>
            <a:r>
              <a:rPr lang="zh-CN" altLang="en-US" sz="2000" dirty="0">
                <a:solidFill>
                  <a:srgbClr val="1F4E79"/>
                </a:solidFill>
              </a:rPr>
              <a:t>          在做 </a:t>
            </a:r>
            <a:r>
              <a:rPr lang="en-US" altLang="zh-CN" sz="2000" dirty="0">
                <a:solidFill>
                  <a:srgbClr val="1F4E79"/>
                </a:solidFill>
              </a:rPr>
              <a:t>Fuse </a:t>
            </a:r>
            <a:r>
              <a:rPr lang="zh-CN" altLang="en-US" sz="2000" dirty="0">
                <a:solidFill>
                  <a:srgbClr val="1F4E79"/>
                </a:solidFill>
              </a:rPr>
              <a:t>之前，</a:t>
            </a:r>
            <a:r>
              <a:rPr lang="en-US" altLang="zh-CN" sz="2000" dirty="0">
                <a:solidFill>
                  <a:srgbClr val="1F4E79"/>
                </a:solidFill>
              </a:rPr>
              <a:t>TVM </a:t>
            </a:r>
            <a:r>
              <a:rPr lang="zh-CN" altLang="en-US" sz="2000" dirty="0">
                <a:solidFill>
                  <a:srgbClr val="1F4E79"/>
                </a:solidFill>
              </a:rPr>
              <a:t>对每个 </a:t>
            </a:r>
            <a:r>
              <a:rPr lang="en-US" altLang="zh-CN" sz="2000" dirty="0">
                <a:solidFill>
                  <a:srgbClr val="1F4E79"/>
                </a:solidFill>
              </a:rPr>
              <a:t>Relay Op </a:t>
            </a:r>
            <a:r>
              <a:rPr lang="zh-CN" altLang="en-US" sz="2000" dirty="0">
                <a:solidFill>
                  <a:srgbClr val="1F4E79"/>
                </a:solidFill>
              </a:rPr>
              <a:t>注册了一个称为 </a:t>
            </a:r>
            <a:r>
              <a:rPr lang="en-US" altLang="zh-CN" sz="2000" dirty="0">
                <a:solidFill>
                  <a:srgbClr val="1F4E79"/>
                </a:solidFill>
              </a:rPr>
              <a:t>TOpPattern </a:t>
            </a:r>
            <a:r>
              <a:rPr lang="zh-CN" altLang="en-US" sz="2000" dirty="0">
                <a:solidFill>
                  <a:srgbClr val="1F4E79"/>
                </a:solidFill>
              </a:rPr>
              <a:t>的属性</a:t>
            </a:r>
            <a:r>
              <a:rPr lang="en-US" altLang="zh-CN" sz="2000" dirty="0">
                <a:solidFill>
                  <a:srgbClr val="1F4E79"/>
                </a:solidFill>
              </a:rPr>
              <a:t>, </a:t>
            </a:r>
            <a:r>
              <a:rPr lang="zh-CN" altLang="en-US" sz="2000" dirty="0">
                <a:solidFill>
                  <a:srgbClr val="1F4E79"/>
                </a:solidFill>
              </a:rPr>
              <a:t>描述了 </a:t>
            </a:r>
            <a:r>
              <a:rPr lang="en-US" altLang="zh-CN" sz="2000" dirty="0">
                <a:solidFill>
                  <a:srgbClr val="1F4E79"/>
                </a:solidFill>
              </a:rPr>
              <a:t>TVM </a:t>
            </a:r>
            <a:r>
              <a:rPr lang="zh-CN" altLang="en-US" sz="2000" dirty="0">
                <a:solidFill>
                  <a:srgbClr val="1F4E79"/>
                </a:solidFill>
              </a:rPr>
              <a:t>的 </a:t>
            </a:r>
            <a:r>
              <a:rPr lang="en-US" altLang="zh-CN" sz="2000" dirty="0">
                <a:solidFill>
                  <a:srgbClr val="1F4E79"/>
                </a:solidFill>
              </a:rPr>
              <a:t>Fuse </a:t>
            </a:r>
            <a:r>
              <a:rPr lang="zh-CN" altLang="en-US" sz="2000" dirty="0">
                <a:solidFill>
                  <a:srgbClr val="1F4E79"/>
                </a:solidFill>
              </a:rPr>
              <a:t>规则，比如 </a:t>
            </a:r>
            <a:r>
              <a:rPr lang="en-US" altLang="zh-CN" sz="2000" dirty="0">
                <a:solidFill>
                  <a:srgbClr val="1F4E79"/>
                </a:solidFill>
              </a:rPr>
              <a:t>kOutEWiseFusable Op </a:t>
            </a:r>
            <a:r>
              <a:rPr lang="zh-CN" altLang="en-US" sz="2000" dirty="0">
                <a:solidFill>
                  <a:srgbClr val="1F4E79"/>
                </a:solidFill>
              </a:rPr>
              <a:t>只能融合后续的 </a:t>
            </a:r>
            <a:r>
              <a:rPr lang="en-US" altLang="zh-CN" sz="2000" dirty="0">
                <a:solidFill>
                  <a:srgbClr val="1F4E79"/>
                </a:solidFill>
              </a:rPr>
              <a:t>kElemWise Op </a:t>
            </a:r>
          </a:p>
          <a:p>
            <a:r>
              <a:rPr lang="zh-CN" altLang="en-US" sz="2000" dirty="0">
                <a:solidFill>
                  <a:srgbClr val="1F4E79"/>
                </a:solidFill>
              </a:rPr>
              <a:t>       </a:t>
            </a:r>
            <a:r>
              <a:rPr lang="en-US" altLang="zh-CN" sz="2000" dirty="0">
                <a:solidFill>
                  <a:srgbClr val="1F4E79"/>
                </a:solidFill>
              </a:rPr>
              <a:t>  </a:t>
            </a:r>
            <a:r>
              <a:rPr lang="zh-CN" altLang="en-US" sz="2000" dirty="0">
                <a:solidFill>
                  <a:srgbClr val="1F4E79"/>
                </a:solidFill>
              </a:rPr>
              <a:t> 这样从整图的</a:t>
            </a:r>
            <a:r>
              <a:rPr lang="en-US" altLang="zh-CN" sz="2000" dirty="0">
                <a:solidFill>
                  <a:srgbClr val="1F4E79"/>
                </a:solidFill>
              </a:rPr>
              <a:t>DAG</a:t>
            </a:r>
            <a:r>
              <a:rPr lang="zh-CN" altLang="en-US" sz="2000" dirty="0">
                <a:solidFill>
                  <a:srgbClr val="1F4E79"/>
                </a:solidFill>
              </a:rPr>
              <a:t>中构建后序支配树，得到每个节点的支配节点</a:t>
            </a:r>
            <a:endParaRPr lang="en-US" altLang="zh-CN" sz="2000" dirty="0">
              <a:solidFill>
                <a:srgbClr val="1F4E79"/>
              </a:solidFill>
            </a:endParaRPr>
          </a:p>
          <a:p>
            <a:endParaRPr lang="zh-CN" altLang="en-US" sz="2000" dirty="0">
              <a:solidFill>
                <a:srgbClr val="1F4E79"/>
              </a:solidFill>
            </a:endParaRPr>
          </a:p>
          <a:p>
            <a:r>
              <a:rPr lang="en-US" altLang="zh-CN" sz="2000" dirty="0">
                <a:solidFill>
                  <a:srgbClr val="1F4E79"/>
                </a:solidFill>
              </a:rPr>
              <a:t>3.</a:t>
            </a:r>
            <a:r>
              <a:rPr lang="zh-CN" altLang="en-US" sz="2000" dirty="0">
                <a:solidFill>
                  <a:srgbClr val="1F4E79"/>
                </a:solidFill>
              </a:rPr>
              <a:t>融合</a:t>
            </a:r>
            <a:r>
              <a:rPr lang="en-US" altLang="zh-CN" sz="2000" dirty="0">
                <a:solidFill>
                  <a:srgbClr val="1F4E79"/>
                </a:solidFill>
              </a:rPr>
              <a:t>groups</a:t>
            </a:r>
          </a:p>
          <a:p>
            <a:r>
              <a:rPr lang="zh-CN" altLang="en-US" sz="2000" dirty="0">
                <a:solidFill>
                  <a:srgbClr val="1F4E79"/>
                </a:solidFill>
              </a:rPr>
              <a:t>         检查每个</a:t>
            </a:r>
            <a:r>
              <a:rPr lang="en-US" altLang="zh-CN" sz="2000" dirty="0">
                <a:solidFill>
                  <a:srgbClr val="1F4E79"/>
                </a:solidFill>
              </a:rPr>
              <a:t>Node</a:t>
            </a:r>
            <a:r>
              <a:rPr lang="zh-CN" altLang="en-US" sz="2000" dirty="0">
                <a:solidFill>
                  <a:srgbClr val="1F4E79"/>
                </a:solidFill>
              </a:rPr>
              <a:t>到其支配点的这些</a:t>
            </a:r>
            <a:r>
              <a:rPr lang="en-US" altLang="zh-CN" sz="2000" dirty="0">
                <a:solidFill>
                  <a:srgbClr val="1F4E79"/>
                </a:solidFill>
              </a:rPr>
              <a:t>Node</a:t>
            </a:r>
            <a:r>
              <a:rPr lang="zh-CN" altLang="en-US" sz="2000" dirty="0">
                <a:solidFill>
                  <a:srgbClr val="1F4E79"/>
                </a:solidFill>
              </a:rPr>
              <a:t>是否符合融合条件，如果符合就对其进行融合</a:t>
            </a:r>
            <a:endParaRPr lang="en-US" altLang="zh-CN" sz="2000" dirty="0">
              <a:solidFill>
                <a:srgbClr val="1F4E79"/>
              </a:solidFill>
            </a:endParaRPr>
          </a:p>
          <a:p>
            <a:endParaRPr lang="en-US" altLang="zh-CN" sz="2000" dirty="0">
              <a:solidFill>
                <a:srgbClr val="1F4E79"/>
              </a:solidFill>
            </a:endParaRPr>
          </a:p>
          <a:p>
            <a:endParaRPr lang="en-US" altLang="zh-CN" sz="2000" dirty="0">
              <a:solidFill>
                <a:srgbClr val="1F4E79"/>
              </a:solidFill>
            </a:endParaRPr>
          </a:p>
          <a:p>
            <a:r>
              <a:rPr lang="zh-CN" altLang="en-US" sz="2000" dirty="0">
                <a:solidFill>
                  <a:srgbClr val="1F4E79"/>
                </a:solidFill>
              </a:rPr>
              <a:t>这样最终的</a:t>
            </a:r>
            <a:r>
              <a:rPr lang="en-US" altLang="zh-CN" sz="2000" dirty="0">
                <a:solidFill>
                  <a:srgbClr val="1F4E79"/>
                </a:solidFill>
              </a:rPr>
              <a:t>group</a:t>
            </a:r>
            <a:r>
              <a:rPr lang="zh-CN" altLang="en-US" sz="2000" dirty="0">
                <a:solidFill>
                  <a:srgbClr val="1F4E79"/>
                </a:solidFill>
              </a:rPr>
              <a:t>就是一个个的</a:t>
            </a:r>
            <a:r>
              <a:rPr lang="en-US" altLang="zh-CN" sz="2000" dirty="0">
                <a:solidFill>
                  <a:srgbClr val="1F4E79"/>
                </a:solidFill>
              </a:rPr>
              <a:t>subgraph</a:t>
            </a:r>
            <a:endParaRPr lang="zh-CN" altLang="en-US" sz="2000" dirty="0">
              <a:solidFill>
                <a:srgbClr val="1F4E79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593771" y="75417"/>
            <a:ext cx="335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Partitioned subgraphs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72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2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66266-8F7A-4B90-8A6A-06477FD7F38F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 one subgraph to optimize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3E314D-E3FC-4AC8-AFF9-63743F8BF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760" y="490472"/>
            <a:ext cx="5498860" cy="563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7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5580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Select subgraph to optimize</a:t>
            </a:r>
            <a:r>
              <a:rPr lang="zh-CN" altLang="en-US" sz="2000" dirty="0">
                <a:solidFill>
                  <a:srgbClr val="1F4E79"/>
                </a:solidFill>
              </a:rPr>
              <a:t>：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058A20-9C2B-489E-BF3F-10025E0BB1AC}"/>
              </a:ext>
            </a:extLst>
          </p:cNvPr>
          <p:cNvSpPr txBox="1"/>
          <p:nvPr/>
        </p:nvSpPr>
        <p:spPr>
          <a:xfrm>
            <a:off x="685801" y="1317171"/>
            <a:ext cx="8730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F4E79"/>
                </a:solidFill>
              </a:rPr>
              <a:t>选择优化效果明显的子图进行优化</a:t>
            </a:r>
            <a:r>
              <a:rPr lang="en-US" altLang="zh-CN" sz="2000" dirty="0">
                <a:solidFill>
                  <a:srgbClr val="1F4E79"/>
                </a:solidFill>
              </a:rPr>
              <a:t> </a:t>
            </a:r>
            <a:r>
              <a:rPr lang="zh-CN" altLang="en-US" sz="2000" dirty="0">
                <a:solidFill>
                  <a:srgbClr val="1F4E79"/>
                </a:solidFill>
              </a:rPr>
              <a:t>，目标函数定义</a:t>
            </a:r>
            <a:r>
              <a:rPr lang="en-US" altLang="zh-CN" sz="2000" dirty="0">
                <a:solidFill>
                  <a:srgbClr val="1F4E79"/>
                </a:solidFill>
              </a:rPr>
              <a:t>: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Select one subgraph to optimize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3B93AA-B21E-4087-B153-4CD76801A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516" y="1854729"/>
            <a:ext cx="7214110" cy="16555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2E2A23-4734-4755-9F67-4CBF805C5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516" y="4599495"/>
            <a:ext cx="7214110" cy="188266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A8ACF72-3629-4039-BB02-6D76F33A9E3E}"/>
              </a:ext>
            </a:extLst>
          </p:cNvPr>
          <p:cNvSpPr txBox="1"/>
          <p:nvPr/>
        </p:nvSpPr>
        <p:spPr>
          <a:xfrm>
            <a:off x="685801" y="4080768"/>
            <a:ext cx="8044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F4E79"/>
                </a:solidFill>
              </a:rPr>
              <a:t>采用梯度下降的方法</a:t>
            </a:r>
            <a:r>
              <a:rPr lang="en-US" altLang="zh-CN" sz="2000" dirty="0">
                <a:solidFill>
                  <a:srgbClr val="1F4E79"/>
                </a:solidFill>
              </a:rPr>
              <a:t>,</a:t>
            </a:r>
            <a:r>
              <a:rPr lang="zh-CN" altLang="en-US" sz="2000" dirty="0">
                <a:solidFill>
                  <a:srgbClr val="1F4E79"/>
                </a:solidFill>
              </a:rPr>
              <a:t>根据链式法则，选取目标子图</a:t>
            </a:r>
            <a:r>
              <a:rPr lang="en-US" altLang="zh-CN" sz="2000" dirty="0">
                <a:solidFill>
                  <a:srgbClr val="1F4E79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3664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2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66266-8F7A-4B90-8A6A-06477FD7F38F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Generate sketches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3F56A6-37E0-4CA9-A19C-B9D2FDC83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238" y="483734"/>
            <a:ext cx="5527381" cy="567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4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5580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Generate sketches </a:t>
            </a:r>
            <a:r>
              <a:rPr lang="zh-CN" altLang="en-US" sz="2000" dirty="0">
                <a:solidFill>
                  <a:srgbClr val="1F4E79"/>
                </a:solidFill>
              </a:rPr>
              <a:t>： </a:t>
            </a:r>
            <a:r>
              <a:rPr lang="en-US" altLang="zh-CN" sz="1600" dirty="0">
                <a:solidFill>
                  <a:srgbClr val="1F4E79"/>
                </a:solidFill>
              </a:rPr>
              <a:t>AccessAnalyzer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Generate sketches: 0  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8D849D0-3780-4B0E-A607-8640383F0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933873"/>
              </p:ext>
            </p:extLst>
          </p:nvPr>
        </p:nvGraphicFramePr>
        <p:xfrm>
          <a:off x="609601" y="2880026"/>
          <a:ext cx="9655630" cy="2463387"/>
        </p:xfrm>
        <a:graphic>
          <a:graphicData uri="http://schemas.openxmlformats.org/drawingml/2006/table">
            <a:tbl>
              <a:tblPr/>
              <a:tblGrid>
                <a:gridCol w="4827815">
                  <a:extLst>
                    <a:ext uri="{9D8B030D-6E8A-4147-A177-3AD203B41FA5}">
                      <a16:colId xmlns:a16="http://schemas.microsoft.com/office/drawing/2014/main" val="420522614"/>
                    </a:ext>
                  </a:extLst>
                </a:gridCol>
                <a:gridCol w="4827815">
                  <a:extLst>
                    <a:ext uri="{9D8B030D-6E8A-4147-A177-3AD203B41FA5}">
                      <a16:colId xmlns:a16="http://schemas.microsoft.com/office/drawing/2014/main" val="402976487"/>
                    </a:ext>
                  </a:extLst>
                </a:gridCol>
              </a:tblGrid>
              <a:tr h="374331">
                <a:tc>
                  <a:txBody>
                    <a:bodyPr/>
                    <a:lstStyle/>
                    <a:p>
                      <a:r>
                        <a:rPr lang="zh-CN" altLang="en-US" b="1" baseline="0" dirty="0">
                          <a:solidFill>
                            <a:srgbClr val="1F4E79"/>
                          </a:solidFill>
                          <a:effectLst/>
                        </a:rPr>
                        <a:t>特征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baseline="0" dirty="0">
                          <a:solidFill>
                            <a:srgbClr val="1F4E79"/>
                          </a:solidFill>
                          <a:effectLst/>
                        </a:rPr>
                        <a:t>说明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602950"/>
                  </a:ext>
                </a:extLst>
              </a:tr>
              <a:tr h="168812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rgbClr val="1F4E79"/>
                          </a:solidFill>
                          <a:effectLst/>
                        </a:rPr>
                        <a:t>IsStrictInlinable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 dirty="0">
                          <a:solidFill>
                            <a:srgbClr val="1F4E79"/>
                          </a:solidFill>
                          <a:effectLst/>
                        </a:rPr>
                        <a:t>输入和输出的维度是否是一一对应的，且语句中不含有 </a:t>
                      </a:r>
                      <a:r>
                        <a:rPr lang="en-US" baseline="0" dirty="0">
                          <a:solidFill>
                            <a:srgbClr val="1F4E79"/>
                          </a:solidFill>
                          <a:effectLst/>
                        </a:rPr>
                        <a:t>if-then-else </a:t>
                      </a:r>
                      <a:r>
                        <a:rPr lang="zh-CN" altLang="en-US" baseline="0" dirty="0">
                          <a:solidFill>
                            <a:srgbClr val="1F4E79"/>
                          </a:solidFill>
                          <a:effectLst/>
                        </a:rPr>
                        <a:t>等特殊的表达式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64184"/>
                  </a:ext>
                </a:extLst>
              </a:tr>
              <a:tr h="168812">
                <a:tc>
                  <a:txBody>
                    <a:bodyPr/>
                    <a:lstStyle/>
                    <a:p>
                      <a:r>
                        <a:rPr lang="en-US" baseline="0">
                          <a:solidFill>
                            <a:srgbClr val="1F4E79"/>
                          </a:solidFill>
                          <a:effectLst/>
                        </a:rPr>
                        <a:t>HasDataReuse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 dirty="0">
                          <a:solidFill>
                            <a:srgbClr val="1F4E79"/>
                          </a:solidFill>
                          <a:effectLst/>
                        </a:rPr>
                        <a:t>在计算输出数据时，输入的数据是否被重复使用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84000"/>
                  </a:ext>
                </a:extLst>
              </a:tr>
              <a:tr h="168812">
                <a:tc>
                  <a:txBody>
                    <a:bodyPr/>
                    <a:lstStyle/>
                    <a:p>
                      <a:r>
                        <a:rPr lang="en-US" baseline="0">
                          <a:solidFill>
                            <a:srgbClr val="1F4E79"/>
                          </a:solidFill>
                          <a:effectLst/>
                        </a:rPr>
                        <a:t>HasFusibleConsumer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>
                          <a:solidFill>
                            <a:srgbClr val="1F4E79"/>
                          </a:solidFill>
                          <a:effectLst/>
                        </a:rPr>
                        <a:t>后面的算子是否可以和该算子融合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220663"/>
                  </a:ext>
                </a:extLst>
              </a:tr>
              <a:tr h="168812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rgbClr val="1F4E79"/>
                          </a:solidFill>
                          <a:effectLst/>
                        </a:rPr>
                        <a:t>HasMoreReductionParallel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aseline="0" dirty="0">
                          <a:solidFill>
                            <a:srgbClr val="1F4E79"/>
                          </a:solidFill>
                          <a:effectLst/>
                        </a:rPr>
                        <a:t>该算子主要为 </a:t>
                      </a:r>
                      <a:r>
                        <a:rPr lang="en-US" baseline="0" dirty="0">
                          <a:solidFill>
                            <a:srgbClr val="1F4E79"/>
                          </a:solidFill>
                          <a:effectLst/>
                        </a:rPr>
                        <a:t>reduce </a:t>
                      </a:r>
                      <a:r>
                        <a:rPr lang="zh-CN" altLang="en-US" baseline="0" dirty="0">
                          <a:solidFill>
                            <a:srgbClr val="1F4E79"/>
                          </a:solidFill>
                          <a:effectLst/>
                        </a:rPr>
                        <a:t>操作，这种情况是否需要用 </a:t>
                      </a:r>
                      <a:r>
                        <a:rPr lang="en-US" baseline="0" dirty="0">
                          <a:solidFill>
                            <a:srgbClr val="1F4E79"/>
                          </a:solidFill>
                          <a:effectLst/>
                        </a:rPr>
                        <a:t>rfactor </a:t>
                      </a:r>
                      <a:r>
                        <a:rPr lang="zh-CN" altLang="en-US" baseline="0" dirty="0">
                          <a:solidFill>
                            <a:srgbClr val="1F4E79"/>
                          </a:solidFill>
                          <a:effectLst/>
                        </a:rPr>
                        <a:t>调度原语</a:t>
                      </a:r>
                    </a:p>
                  </a:txBody>
                  <a:tcPr marL="84406" marR="84406" marT="21102" marB="21102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05125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E205800B-6118-40A1-B403-0C47BCF5D84C}"/>
              </a:ext>
            </a:extLst>
          </p:cNvPr>
          <p:cNvSpPr txBox="1"/>
          <p:nvPr/>
        </p:nvSpPr>
        <p:spPr>
          <a:xfrm>
            <a:off x="609601" y="1514587"/>
            <a:ext cx="95685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F4E79"/>
                </a:solidFill>
              </a:rPr>
              <a:t>静态分析，</a:t>
            </a:r>
            <a:r>
              <a:rPr lang="en-US" altLang="zh-CN" sz="2000" dirty="0">
                <a:solidFill>
                  <a:srgbClr val="1F4E79"/>
                </a:solidFill>
              </a:rPr>
              <a:t>DAG</a:t>
            </a:r>
            <a:r>
              <a:rPr lang="zh-CN" altLang="en-US" sz="2000" dirty="0">
                <a:solidFill>
                  <a:srgbClr val="1F4E79"/>
                </a:solidFill>
              </a:rPr>
              <a:t>的每个算子都有</a:t>
            </a:r>
            <a:r>
              <a:rPr lang="en-US" altLang="zh-CN" sz="2000" dirty="0">
                <a:solidFill>
                  <a:srgbClr val="1F4E79"/>
                </a:solidFill>
              </a:rPr>
              <a:t>is_simple_access</a:t>
            </a:r>
            <a:r>
              <a:rPr lang="zh-CN" altLang="en-US" sz="2000" dirty="0">
                <a:solidFill>
                  <a:srgbClr val="1F4E79"/>
                </a:solidFill>
              </a:rPr>
              <a:t>、</a:t>
            </a:r>
            <a:r>
              <a:rPr lang="en-US" altLang="zh-CN" sz="2000" dirty="0">
                <a:solidFill>
                  <a:srgbClr val="1F4E79"/>
                </a:solidFill>
              </a:rPr>
              <a:t>needs_multi_level_tiling</a:t>
            </a:r>
            <a:r>
              <a:rPr lang="zh-CN" altLang="en-US" sz="2000" dirty="0">
                <a:solidFill>
                  <a:srgbClr val="1F4E79"/>
                </a:solidFill>
              </a:rPr>
              <a:t>等属性，这些属性决定了在此算子上生成</a:t>
            </a:r>
            <a:r>
              <a:rPr lang="en-US" altLang="zh-CN" sz="2000" dirty="0">
                <a:solidFill>
                  <a:srgbClr val="1F4E79"/>
                </a:solidFill>
              </a:rPr>
              <a:t>sketch</a:t>
            </a:r>
            <a:r>
              <a:rPr lang="zh-CN" altLang="en-US" sz="2000" dirty="0">
                <a:solidFill>
                  <a:srgbClr val="1F4E79"/>
                </a:solidFill>
              </a:rPr>
              <a:t>时候可选的策略；</a:t>
            </a:r>
            <a:endParaRPr lang="en-US" altLang="zh-CN" sz="2000" dirty="0">
              <a:solidFill>
                <a:srgbClr val="1F4E79"/>
              </a:solidFill>
            </a:endParaRPr>
          </a:p>
          <a:p>
            <a:endParaRPr lang="en-US" altLang="zh-CN" sz="2000" dirty="0">
              <a:solidFill>
                <a:srgbClr val="1F4E79"/>
              </a:solidFill>
            </a:endParaRPr>
          </a:p>
          <a:p>
            <a:r>
              <a:rPr lang="zh-CN" altLang="en-US" sz="2000" dirty="0">
                <a:solidFill>
                  <a:srgbClr val="1F4E79"/>
                </a:solidFill>
              </a:rPr>
              <a:t>这些属性是根据算子本身计算特性、输入、输出和内存复用等情况决定；</a:t>
            </a:r>
            <a:endParaRPr lang="en-US" altLang="zh-CN" sz="2000" dirty="0">
              <a:solidFill>
                <a:srgbClr val="1F4E7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24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6811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Generate sketches </a:t>
            </a:r>
            <a:r>
              <a:rPr lang="zh-CN" altLang="en-US" sz="2000" dirty="0">
                <a:solidFill>
                  <a:srgbClr val="1F4E79"/>
                </a:solidFill>
              </a:rPr>
              <a:t>：</a:t>
            </a:r>
            <a:r>
              <a:rPr lang="en-US" altLang="zh-CN" sz="1600" dirty="0">
                <a:solidFill>
                  <a:srgbClr val="1F4E79"/>
                </a:solidFill>
              </a:rPr>
              <a:t>apply schedule operate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058A20-9C2B-489E-BF3F-10025E0BB1AC}"/>
              </a:ext>
            </a:extLst>
          </p:cNvPr>
          <p:cNvSpPr txBox="1"/>
          <p:nvPr/>
        </p:nvSpPr>
        <p:spPr>
          <a:xfrm>
            <a:off x="609601" y="1284513"/>
            <a:ext cx="9568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F4E79"/>
                </a:solidFill>
              </a:rPr>
              <a:t>从后向前遍历拓扑排序生成的计算队列，根据算子的特征为算子选择调度策略</a:t>
            </a:r>
            <a:r>
              <a:rPr lang="en-US" altLang="zh-CN" sz="2000" dirty="0">
                <a:solidFill>
                  <a:srgbClr val="1F4E79"/>
                </a:solidFill>
              </a:rPr>
              <a:t>: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Generate sketches : 1  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39CE092-135C-45BB-9A25-6C461290A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1426"/>
              </p:ext>
            </p:extLst>
          </p:nvPr>
        </p:nvGraphicFramePr>
        <p:xfrm>
          <a:off x="1308416" y="2019487"/>
          <a:ext cx="9155637" cy="3784073"/>
        </p:xfrm>
        <a:graphic>
          <a:graphicData uri="http://schemas.openxmlformats.org/drawingml/2006/table">
            <a:tbl>
              <a:tblPr/>
              <a:tblGrid>
                <a:gridCol w="3242485">
                  <a:extLst>
                    <a:ext uri="{9D8B030D-6E8A-4147-A177-3AD203B41FA5}">
                      <a16:colId xmlns:a16="http://schemas.microsoft.com/office/drawing/2014/main" val="2913444174"/>
                    </a:ext>
                  </a:extLst>
                </a:gridCol>
                <a:gridCol w="2956576">
                  <a:extLst>
                    <a:ext uri="{9D8B030D-6E8A-4147-A177-3AD203B41FA5}">
                      <a16:colId xmlns:a16="http://schemas.microsoft.com/office/drawing/2014/main" val="1561675824"/>
                    </a:ext>
                  </a:extLst>
                </a:gridCol>
                <a:gridCol w="2956576">
                  <a:extLst>
                    <a:ext uri="{9D8B030D-6E8A-4147-A177-3AD203B41FA5}">
                      <a16:colId xmlns:a16="http://schemas.microsoft.com/office/drawing/2014/main" val="1818102065"/>
                    </a:ext>
                  </a:extLst>
                </a:gridCol>
              </a:tblGrid>
              <a:tr h="393992">
                <a:tc>
                  <a:txBody>
                    <a:bodyPr/>
                    <a:lstStyle/>
                    <a:p>
                      <a:r>
                        <a:rPr lang="zh-CN" altLang="en-US" sz="1600" b="1" baseline="0" dirty="0">
                          <a:solidFill>
                            <a:srgbClr val="1F4E79"/>
                          </a:solidFill>
                          <a:effectLst/>
                        </a:rPr>
                        <a:t>派生规则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baseline="0" dirty="0">
                          <a:solidFill>
                            <a:srgbClr val="1F4E79"/>
                          </a:solidFill>
                          <a:effectLst/>
                        </a:rPr>
                        <a:t>触发条件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baseline="0" dirty="0">
                          <a:solidFill>
                            <a:srgbClr val="1F4E79"/>
                          </a:solidFill>
                          <a:effectLst/>
                        </a:rPr>
                        <a:t>策略选择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85518"/>
                  </a:ext>
                </a:extLst>
              </a:tr>
              <a:tr h="393992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1. Skip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>
                          <a:solidFill>
                            <a:srgbClr val="1F4E79"/>
                          </a:solidFill>
                          <a:effectLst/>
                        </a:rPr>
                        <a:t>\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>
                          <a:solidFill>
                            <a:srgbClr val="1F4E79"/>
                          </a:solidFill>
                          <a:effectLst/>
                        </a:rPr>
                        <a:t>\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116919"/>
                  </a:ext>
                </a:extLst>
              </a:tr>
              <a:tr h="393992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2. Always Inline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>
                          <a:solidFill>
                            <a:srgbClr val="1F4E79"/>
                          </a:solidFill>
                          <a:effectLst/>
                        </a:rPr>
                        <a:t>无数据复用的简单算子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>
                          <a:solidFill>
                            <a:srgbClr val="1F4E79"/>
                          </a:solidFill>
                          <a:effectLst/>
                        </a:rPr>
                        <a:t>compute_inline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02301"/>
                  </a:ext>
                </a:extLst>
              </a:tr>
              <a:tr h="393992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3. Multi-level Tiling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>
                          <a:solidFill>
                            <a:srgbClr val="1F4E79"/>
                          </a:solidFill>
                          <a:effectLst/>
                        </a:rPr>
                        <a:t>有数据复用的算子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>
                          <a:solidFill>
                            <a:srgbClr val="1F4E79"/>
                          </a:solidFill>
                          <a:effectLst/>
                        </a:rPr>
                        <a:t>fuse, split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800786"/>
                  </a:ext>
                </a:extLst>
              </a:tr>
              <a:tr h="736035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4. Multi-level Tiling with Fusion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数据复用算子和简单算子融合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fuse, split, compute_at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254362"/>
                  </a:ext>
                </a:extLst>
              </a:tr>
              <a:tr h="393992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5. Add Cache Stage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>
                          <a:solidFill>
                            <a:srgbClr val="1F4E79"/>
                          </a:solidFill>
                          <a:effectLst/>
                        </a:rPr>
                        <a:t>数据复用算子的输入、输出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cache_read, cache_write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42277"/>
                  </a:ext>
                </a:extLst>
              </a:tr>
              <a:tr h="1078078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6. Reduction Factorization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>
                          <a:solidFill>
                            <a:srgbClr val="1F4E79"/>
                          </a:solidFill>
                          <a:effectLst/>
                        </a:rPr>
                        <a:t>存在 </a:t>
                      </a:r>
                      <a:r>
                        <a:rPr lang="en-US" sz="1600" baseline="0">
                          <a:solidFill>
                            <a:srgbClr val="1F4E79"/>
                          </a:solidFill>
                          <a:effectLst/>
                        </a:rPr>
                        <a:t>Reduce </a:t>
                      </a:r>
                      <a:r>
                        <a:rPr lang="zh-CN" altLang="en-US" sz="1600" baseline="0">
                          <a:solidFill>
                            <a:srgbClr val="1F4E79"/>
                          </a:solidFill>
                          <a:effectLst/>
                        </a:rPr>
                        <a:t>操作，且算子的 </a:t>
                      </a:r>
                      <a:r>
                        <a:rPr lang="en-US" sz="1600" baseline="0">
                          <a:solidFill>
                            <a:srgbClr val="1F4E79"/>
                          </a:solidFill>
                          <a:effectLst/>
                        </a:rPr>
                        <a:t>Spatial axis </a:t>
                      </a:r>
                      <a:r>
                        <a:rPr lang="zh-CN" altLang="en-US" sz="1600" baseline="0">
                          <a:solidFill>
                            <a:srgbClr val="1F4E79"/>
                          </a:solidFill>
                          <a:effectLst/>
                        </a:rPr>
                        <a:t>迭代次数较少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solidFill>
                            <a:srgbClr val="1F4E79"/>
                          </a:solidFill>
                          <a:effectLst/>
                        </a:rPr>
                        <a:t>rfactor</a:t>
                      </a:r>
                    </a:p>
                  </a:txBody>
                  <a:tcPr marL="74065" marR="74065" marT="18517" marB="18517" anchor="ctr">
                    <a:lnL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34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130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92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5580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Generate sketches </a:t>
            </a:r>
            <a:r>
              <a:rPr lang="zh-CN" altLang="en-US" sz="2000" dirty="0">
                <a:solidFill>
                  <a:srgbClr val="1F4E79"/>
                </a:solidFill>
              </a:rPr>
              <a:t>：</a:t>
            </a:r>
            <a:r>
              <a:rPr lang="en-US" altLang="zh-CN" sz="1600" dirty="0">
                <a:solidFill>
                  <a:srgbClr val="1F4E79"/>
                </a:solidFill>
              </a:rPr>
              <a:t>example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Generate sketches : 2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088CC5-69F6-4FE2-A9BF-2F6287F83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16" y="1304244"/>
            <a:ext cx="10185627" cy="487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2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66266-8F7A-4B90-8A6A-06477FD7F38F}"/>
              </a:ext>
            </a:extLst>
          </p:cNvPr>
          <p:cNvSpPr txBox="1"/>
          <p:nvPr/>
        </p:nvSpPr>
        <p:spPr>
          <a:xfrm>
            <a:off x="640079" y="2074363"/>
            <a:ext cx="2838411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Search a set of parameters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4680D3-C2EE-4D38-BB1D-3D1CFEAC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297" y="418899"/>
            <a:ext cx="5868614" cy="602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6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7453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Search a set of parameters: </a:t>
            </a:r>
            <a:r>
              <a:rPr lang="en-US" altLang="zh-CN" sz="1600" dirty="0">
                <a:solidFill>
                  <a:srgbClr val="1F4E79"/>
                </a:solidFill>
              </a:rPr>
              <a:t>random</a:t>
            </a:r>
            <a:r>
              <a:rPr lang="en-US" altLang="zh-CN" sz="2000" dirty="0">
                <a:solidFill>
                  <a:srgbClr val="1F4E79"/>
                </a:solidFill>
              </a:rPr>
              <a:t> </a:t>
            </a:r>
            <a:r>
              <a:rPr lang="en-US" altLang="zh-CN" sz="1600" dirty="0">
                <a:solidFill>
                  <a:srgbClr val="1F4E79"/>
                </a:solidFill>
              </a:rPr>
              <a:t>initialize population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Search a set of parameters : 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FD79B2-30A4-4393-B6A4-7B695CD9B8C8}"/>
              </a:ext>
            </a:extLst>
          </p:cNvPr>
          <p:cNvSpPr txBox="1"/>
          <p:nvPr/>
        </p:nvSpPr>
        <p:spPr>
          <a:xfrm>
            <a:off x="740227" y="1663534"/>
            <a:ext cx="105047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4E79"/>
                </a:solidFill>
                <a:latin typeface="+mj-lt"/>
              </a:rPr>
              <a:t>Sketch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虽然生成了代码的结构，但是一些细节还没有确定，如：</a:t>
            </a:r>
          </a:p>
          <a:p>
            <a:r>
              <a:rPr lang="en-US" altLang="zh-CN" dirty="0">
                <a:solidFill>
                  <a:srgbClr val="1F4E79"/>
                </a:solidFill>
                <a:latin typeface="+mj-lt"/>
              </a:rPr>
              <a:t>      GPU thread bind</a:t>
            </a:r>
          </a:p>
          <a:p>
            <a:r>
              <a:rPr lang="en-US" altLang="zh-CN" dirty="0">
                <a:solidFill>
                  <a:srgbClr val="1F4E79"/>
                </a:solidFill>
                <a:latin typeface="+mj-lt"/>
              </a:rPr>
              <a:t>      for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循环的 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unroll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vectorize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parallize</a:t>
            </a:r>
          </a:p>
          <a:p>
            <a:r>
              <a:rPr lang="en-US" altLang="zh-CN" dirty="0">
                <a:solidFill>
                  <a:srgbClr val="1F4E79"/>
                </a:solidFill>
                <a:latin typeface="+mj-lt"/>
              </a:rPr>
              <a:t>      Split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的 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factor</a:t>
            </a:r>
          </a:p>
          <a:p>
            <a:endParaRPr lang="en-US" altLang="zh-CN" dirty="0">
              <a:solidFill>
                <a:srgbClr val="1F4E79"/>
              </a:solidFill>
              <a:latin typeface="+mj-lt"/>
            </a:endParaRPr>
          </a:p>
          <a:p>
            <a:r>
              <a:rPr lang="zh-CN" altLang="en-US" dirty="0">
                <a:solidFill>
                  <a:srgbClr val="1F4E79"/>
                </a:solidFill>
                <a:latin typeface="+mj-lt"/>
              </a:rPr>
              <a:t>     详细的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S-TIR schedule primitives, 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参考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tvm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源码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tvm/python/tvm/auto_scheduler/ loop_state.py</a:t>
            </a:r>
          </a:p>
          <a:p>
            <a:r>
              <a:rPr lang="zh-CN" altLang="en-US" dirty="0">
                <a:solidFill>
                  <a:srgbClr val="1F4E79"/>
                </a:solidFill>
                <a:latin typeface="+mj-lt"/>
              </a:rPr>
              <a:t>     包含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: fuse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split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rfactor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storage-align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vectorize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unroll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bind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reorder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cache-read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cache-write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等等</a:t>
            </a:r>
            <a:endParaRPr lang="en-US" altLang="zh-CN" dirty="0">
              <a:solidFill>
                <a:srgbClr val="1F4E79"/>
              </a:solidFill>
              <a:latin typeface="+mj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6985E2-48E2-4065-9057-ECB6AFCB3C09}"/>
              </a:ext>
            </a:extLst>
          </p:cNvPr>
          <p:cNvSpPr txBox="1"/>
          <p:nvPr/>
        </p:nvSpPr>
        <p:spPr>
          <a:xfrm>
            <a:off x="740227" y="4582220"/>
            <a:ext cx="100440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800" dirty="0">
              <a:solidFill>
                <a:srgbClr val="1F4E79"/>
              </a:solidFill>
              <a:latin typeface="+mj-lt"/>
            </a:endParaRPr>
          </a:p>
          <a:p>
            <a:r>
              <a:rPr lang="en-US" altLang="zh-CN" sz="1800" dirty="0">
                <a:solidFill>
                  <a:srgbClr val="1F4E79"/>
                </a:solidFill>
                <a:latin typeface="+mj-lt"/>
              </a:rPr>
              <a:t>Annotation </a:t>
            </a:r>
            <a:r>
              <a:rPr lang="zh-CN" altLang="en-US" sz="1800" dirty="0">
                <a:solidFill>
                  <a:srgbClr val="1F4E79"/>
                </a:solidFill>
                <a:latin typeface="+mj-lt"/>
              </a:rPr>
              <a:t>会随机确定上述内容，生成完整的代码。</a:t>
            </a:r>
            <a:r>
              <a:rPr lang="en-US" altLang="zh-CN" sz="1800" dirty="0">
                <a:solidFill>
                  <a:srgbClr val="1F4E79"/>
                </a:solidFill>
                <a:latin typeface="+mj-lt"/>
              </a:rPr>
              <a:t>Annotation </a:t>
            </a:r>
            <a:r>
              <a:rPr lang="zh-CN" altLang="en-US" sz="1800" dirty="0">
                <a:solidFill>
                  <a:srgbClr val="1F4E79"/>
                </a:solidFill>
                <a:latin typeface="+mj-lt"/>
              </a:rPr>
              <a:t>只负责随机的生成代码，并不会考虑性能，性能由 </a:t>
            </a:r>
            <a:r>
              <a:rPr lang="en-US" altLang="zh-CN" sz="1800" dirty="0">
                <a:solidFill>
                  <a:srgbClr val="1F4E79"/>
                </a:solidFill>
                <a:latin typeface="+mj-lt"/>
              </a:rPr>
              <a:t>Evolutionary Search </a:t>
            </a:r>
            <a:r>
              <a:rPr lang="zh-CN" altLang="en-US" sz="1800" dirty="0">
                <a:solidFill>
                  <a:srgbClr val="1F4E79"/>
                </a:solidFill>
                <a:latin typeface="+mj-lt"/>
              </a:rPr>
              <a:t>来保证；</a:t>
            </a:r>
            <a:endParaRPr lang="en-US" altLang="zh-CN" sz="1800" dirty="0">
              <a:solidFill>
                <a:srgbClr val="1F4E7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7661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5580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Search a set of parameters: </a:t>
            </a:r>
            <a:r>
              <a:rPr lang="en-US" altLang="zh-CN" sz="1600" dirty="0">
                <a:solidFill>
                  <a:srgbClr val="1F4E79"/>
                </a:solidFill>
              </a:rPr>
              <a:t>FeatureSet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Search a set of parameters : 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FD79B2-30A4-4393-B6A4-7B695CD9B8C8}"/>
              </a:ext>
            </a:extLst>
          </p:cNvPr>
          <p:cNvSpPr txBox="1"/>
          <p:nvPr/>
        </p:nvSpPr>
        <p:spPr>
          <a:xfrm>
            <a:off x="560613" y="1355721"/>
            <a:ext cx="105047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4E79"/>
                </a:solidFill>
                <a:latin typeface="+mj-lt"/>
              </a:rPr>
              <a:t>训练获得的 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XGBoost Tree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可以大致确定代码的好坏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,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并且花费的时间更少。</a:t>
            </a:r>
            <a:endParaRPr lang="en-US" altLang="zh-CN" dirty="0">
              <a:solidFill>
                <a:srgbClr val="1F4E79"/>
              </a:solidFill>
              <a:latin typeface="+mj-lt"/>
            </a:endParaRPr>
          </a:p>
          <a:p>
            <a:r>
              <a:rPr lang="zh-CN" altLang="en-US" dirty="0">
                <a:solidFill>
                  <a:srgbClr val="1F4E79"/>
                </a:solidFill>
                <a:latin typeface="+mj-lt"/>
              </a:rPr>
              <a:t>为了评定 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Annotation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生成的代码的性能，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ANSOR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对每个算子的实现提取了如下特征来训练模型；</a:t>
            </a:r>
            <a:endParaRPr lang="en-US" altLang="zh-CN" dirty="0">
              <a:solidFill>
                <a:srgbClr val="1F4E79"/>
              </a:solidFill>
              <a:latin typeface="+mj-lt"/>
            </a:endParaRPr>
          </a:p>
          <a:p>
            <a:endParaRPr lang="en-US" altLang="zh-CN" dirty="0">
              <a:solidFill>
                <a:srgbClr val="1F4E79"/>
              </a:solidFill>
              <a:latin typeface="+mj-lt"/>
            </a:endParaRPr>
          </a:p>
          <a:p>
            <a:r>
              <a:rPr lang="en-US" altLang="zh-CN" dirty="0">
                <a:solidFill>
                  <a:srgbClr val="1F4E79"/>
                </a:solidFill>
                <a:latin typeface="+mj-lt"/>
              </a:rPr>
              <a:t>tvm source code feature.cc struct FeatureSet:</a:t>
            </a:r>
          </a:p>
          <a:p>
            <a:endParaRPr lang="en-US" altLang="zh-CN" dirty="0">
              <a:solidFill>
                <a:srgbClr val="1F4E79"/>
              </a:solidFill>
              <a:latin typeface="+mj-lt"/>
            </a:endParaRPr>
          </a:p>
          <a:p>
            <a:endParaRPr lang="en-US" altLang="zh-CN" dirty="0">
              <a:solidFill>
                <a:srgbClr val="1F4E79"/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356549-CB6D-48C1-89CF-20D3E9F16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30" y="2605636"/>
            <a:ext cx="11424192" cy="385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5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77581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Search a set of parameters: </a:t>
            </a:r>
            <a:r>
              <a:rPr lang="en-US" altLang="zh-CN" sz="1600" dirty="0">
                <a:solidFill>
                  <a:srgbClr val="1F4E79"/>
                </a:solidFill>
              </a:rPr>
              <a:t>EvolutionarySearch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Search a set of parameters : 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FD79B2-30A4-4393-B6A4-7B695CD9B8C8}"/>
              </a:ext>
            </a:extLst>
          </p:cNvPr>
          <p:cNvSpPr txBox="1"/>
          <p:nvPr/>
        </p:nvSpPr>
        <p:spPr>
          <a:xfrm>
            <a:off x="685798" y="1379732"/>
            <a:ext cx="1032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4E79"/>
                </a:solidFill>
                <a:latin typeface="+mj-lt"/>
              </a:rPr>
              <a:t>ANSOR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训练了一个 </a:t>
            </a:r>
            <a:r>
              <a:rPr lang="en-US" altLang="zh-CN" dirty="0">
                <a:solidFill>
                  <a:srgbClr val="1F4E79"/>
                </a:solidFill>
                <a:latin typeface="+mj-lt"/>
              </a:rPr>
              <a:t>XGBoost Tree </a:t>
            </a:r>
            <a:r>
              <a:rPr lang="zh-CN" altLang="en-US" dirty="0">
                <a:solidFill>
                  <a:srgbClr val="1F4E79"/>
                </a:solidFill>
                <a:latin typeface="+mj-lt"/>
              </a:rPr>
              <a:t>对代码的性能进行评估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D70E40-84B4-4975-82A2-991842644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5" y="1729026"/>
            <a:ext cx="9894611" cy="32139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13CE52D-D2AE-4E63-94C8-6A5C024981D3}"/>
              </a:ext>
            </a:extLst>
          </p:cNvPr>
          <p:cNvSpPr txBox="1"/>
          <p:nvPr/>
        </p:nvSpPr>
        <p:spPr>
          <a:xfrm>
            <a:off x="609598" y="4966701"/>
            <a:ext cx="115824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特征提取的输入有三个来源：</a:t>
            </a:r>
          </a:p>
          <a:p>
            <a:pPr algn="l">
              <a:buFont typeface="+mj-lt"/>
              <a:buAutoNum type="arabicPeriod"/>
            </a:pP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 随机的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Annotation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，保证了样本的丰富性。</a:t>
            </a:r>
          </a:p>
          <a:p>
            <a:pPr algn="l">
              <a:buFont typeface="+mj-lt"/>
              <a:buAutoNum type="arabicPeriod"/>
            </a:pP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 迭代中获取的优秀样本，有助于训练得到更准确的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XGBTree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 优秀样本的变种，好的样本的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“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突变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”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往往会更容易获得好的样本，因此对好样本参数进行微调的方式扩充样本集。</a:t>
            </a:r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zh-CN" altLang="en-US" sz="1600" dirty="0">
              <a:solidFill>
                <a:srgbClr val="1F4E79"/>
              </a:solidFill>
              <a:latin typeface="+mj-lt"/>
            </a:endParaRPr>
          </a:p>
          <a:p>
            <a:pPr algn="l"/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提取的特征会用来训练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XGBoost Tree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，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XGBoost Tree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又能对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Annotation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样本进行一次初筛选，将评分高的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Annotation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通过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TVM Runtime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获得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Ground Truth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，根据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Ground Truth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就可以选择出优秀的代码实现。</a:t>
            </a:r>
          </a:p>
        </p:txBody>
      </p:sp>
    </p:spTree>
    <p:extLst>
      <p:ext uri="{BB962C8B-B14F-4D97-AF65-F5344CB8AC3E}">
        <p14:creationId xmlns:p14="http://schemas.microsoft.com/office/powerpoint/2010/main" val="1776503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75CA99B-C110-4038-BD53-8573BAC4A5F3}"/>
              </a:ext>
            </a:extLst>
          </p:cNvPr>
          <p:cNvSpPr txBox="1"/>
          <p:nvPr/>
        </p:nvSpPr>
        <p:spPr>
          <a:xfrm>
            <a:off x="79600" y="779613"/>
            <a:ext cx="7322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Search a set of parameters: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XGBoost</a:t>
            </a:r>
            <a:r>
              <a:rPr lang="en-US" altLang="zh-CN" sz="1600" dirty="0">
                <a:solidFill>
                  <a:srgbClr val="1F4E79"/>
                </a:solidFill>
              </a:rPr>
              <a:t> Tree Example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7B60E7-7395-46A6-93E6-68B6D945109B}"/>
              </a:ext>
            </a:extLst>
          </p:cNvPr>
          <p:cNvSpPr txBox="1"/>
          <p:nvPr/>
        </p:nvSpPr>
        <p:spPr>
          <a:xfrm>
            <a:off x="4419598" y="75417"/>
            <a:ext cx="514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Search a set of parameters : 3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3CE52D-D2AE-4E63-94C8-6A5C024981D3}"/>
              </a:ext>
            </a:extLst>
          </p:cNvPr>
          <p:cNvSpPr txBox="1"/>
          <p:nvPr/>
        </p:nvSpPr>
        <p:spPr>
          <a:xfrm>
            <a:off x="304799" y="1613118"/>
            <a:ext cx="115824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一个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Matmul + ReLU + Add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的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Annotation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样本训练出的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XGBoost Tree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如下图所示，</a:t>
            </a:r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endParaRPr lang="en-US" altLang="zh-CN" sz="1600" dirty="0">
              <a:solidFill>
                <a:srgbClr val="1F4E79"/>
              </a:solidFill>
              <a:latin typeface="+mj-lt"/>
            </a:endParaRPr>
          </a:p>
          <a:p>
            <a:pPr algn="l"/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对于矩阵乘法来说，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XGBoost Tree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的特征向量是比较稀疏的，起决定性的特征主要有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vthread_len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threadIdx_x_len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、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blockIdx_x_len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7EF15A-70C6-473A-9119-471D7C3D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320" y="2173921"/>
            <a:ext cx="5576709" cy="296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0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2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66266-8F7A-4B90-8A6A-06477FD7F38F}"/>
              </a:ext>
            </a:extLst>
          </p:cNvPr>
          <p:cNvSpPr txBox="1"/>
          <p:nvPr/>
        </p:nvSpPr>
        <p:spPr>
          <a:xfrm>
            <a:off x="640079" y="2074363"/>
            <a:ext cx="2838411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Addition</a:t>
            </a:r>
          </a:p>
        </p:txBody>
      </p:sp>
    </p:spTree>
    <p:extLst>
      <p:ext uri="{BB962C8B-B14F-4D97-AF65-F5344CB8AC3E}">
        <p14:creationId xmlns:p14="http://schemas.microsoft.com/office/powerpoint/2010/main" val="314604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2A56796-72C7-445E-BCEE-7213B6C8EF23}"/>
              </a:ext>
            </a:extLst>
          </p:cNvPr>
          <p:cNvSpPr txBox="1"/>
          <p:nvPr/>
        </p:nvSpPr>
        <p:spPr>
          <a:xfrm>
            <a:off x="1703613" y="1307960"/>
            <a:ext cx="730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4E79"/>
                </a:solidFill>
              </a:rPr>
              <a:t> </a:t>
            </a:r>
            <a:r>
              <a:rPr lang="en-US" altLang="zh-CN" sz="1800" dirty="0">
                <a:solidFill>
                  <a:srgbClr val="1F4E79"/>
                </a:solidFill>
              </a:rPr>
              <a:t>AutoTvm1.0  = Manual Template + Parameter Search</a:t>
            </a:r>
            <a:endParaRPr lang="en-US" altLang="zh-CN" dirty="0">
              <a:solidFill>
                <a:srgbClr val="1F4E79"/>
              </a:solidFill>
            </a:endParaRPr>
          </a:p>
          <a:p>
            <a:r>
              <a:rPr lang="en-US" altLang="zh-CN" dirty="0">
                <a:solidFill>
                  <a:srgbClr val="1F4E79"/>
                </a:solidFill>
              </a:rPr>
              <a:t>     </a:t>
            </a:r>
          </a:p>
          <a:p>
            <a:r>
              <a:rPr lang="en-US" altLang="zh-CN" dirty="0">
                <a:solidFill>
                  <a:srgbClr val="1F4E79"/>
                </a:solidFill>
              </a:rPr>
              <a:t> </a:t>
            </a:r>
            <a:r>
              <a:rPr lang="en-US" altLang="zh-CN" sz="1800" dirty="0">
                <a:solidFill>
                  <a:srgbClr val="1F4E79"/>
                </a:solidFill>
              </a:rPr>
              <a:t>AutoTvm2.0  = Auto Generate Template + Parameter Search</a:t>
            </a:r>
            <a:endParaRPr lang="en-US" altLang="zh-CN" dirty="0">
              <a:solidFill>
                <a:srgbClr val="1F4E79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FB44CE-8AEA-457B-9526-C40F459B4EA6}"/>
              </a:ext>
            </a:extLst>
          </p:cNvPr>
          <p:cNvSpPr txBox="1"/>
          <p:nvPr/>
        </p:nvSpPr>
        <p:spPr>
          <a:xfrm>
            <a:off x="304800" y="555917"/>
            <a:ext cx="112721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AutoTvm2.0 implemented using the paper 《 Ansor Generating High-Performance Tensor Programs 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2F02495-F19B-4E18-BE8C-4CED75558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32" y="2284262"/>
            <a:ext cx="2891006" cy="27571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3E0E3B3-A0CC-4CC2-A7D4-3D118439E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703" y="2271410"/>
            <a:ext cx="2905730" cy="2508416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7D4C4E64-CD20-4AEE-B178-B07824A239E5}"/>
              </a:ext>
            </a:extLst>
          </p:cNvPr>
          <p:cNvSpPr/>
          <p:nvPr/>
        </p:nvSpPr>
        <p:spPr>
          <a:xfrm>
            <a:off x="4495799" y="3425365"/>
            <a:ext cx="1262743" cy="33745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0979AD3-AE7D-4351-B0FF-F4A9C09DE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982368"/>
              </p:ext>
            </p:extLst>
          </p:nvPr>
        </p:nvGraphicFramePr>
        <p:xfrm>
          <a:off x="770844" y="5767977"/>
          <a:ext cx="1699986" cy="91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" name="包装程序外壳对象" showAsIcon="1" r:id="rId6" imgW="788040" imgH="423360" progId="Package">
                  <p:embed/>
                </p:oleObj>
              </mc:Choice>
              <mc:Fallback>
                <p:oleObj name="包装程序外壳对象" showAsIcon="1" r:id="rId6" imgW="788040" imgH="423360" progId="Package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C03B8D3-B87E-4BB8-82CC-3348B30F60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0844" y="5767977"/>
                        <a:ext cx="1699986" cy="915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70A43CD-F4B2-458B-800E-B2A71DB30C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20757"/>
              </p:ext>
            </p:extLst>
          </p:nvPr>
        </p:nvGraphicFramePr>
        <p:xfrm>
          <a:off x="6638575" y="5747313"/>
          <a:ext cx="1699985" cy="915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" name="包装程序外壳对象" showAsIcon="1" r:id="rId8" imgW="788040" imgH="423360" progId="Package">
                  <p:embed/>
                </p:oleObj>
              </mc:Choice>
              <mc:Fallback>
                <p:oleObj name="包装程序外壳对象" showAsIcon="1" r:id="rId8" imgW="788040" imgH="423360" progId="Package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54B248F-8824-401F-BBB8-F84F249443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38575" y="5747313"/>
                        <a:ext cx="1699985" cy="915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EDCEF15B-DF3C-46BC-BB71-CFD0A157E005}"/>
              </a:ext>
            </a:extLst>
          </p:cNvPr>
          <p:cNvSpPr txBox="1"/>
          <p:nvPr/>
        </p:nvSpPr>
        <p:spPr>
          <a:xfrm>
            <a:off x="1943099" y="-36987"/>
            <a:ext cx="8305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：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 AutoTvm 1.0 Vs 2.0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C94873-8D02-4A96-BA52-704BE262DA8F}"/>
              </a:ext>
            </a:extLst>
          </p:cNvPr>
          <p:cNvSpPr txBox="1"/>
          <p:nvPr/>
        </p:nvSpPr>
        <p:spPr>
          <a:xfrm>
            <a:off x="1145720" y="5179492"/>
            <a:ext cx="7309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4E79"/>
                </a:solidFill>
              </a:rPr>
              <a:t> </a:t>
            </a:r>
            <a:r>
              <a:rPr lang="zh-CN" altLang="en-US" dirty="0">
                <a:solidFill>
                  <a:srgbClr val="1F4E79"/>
                </a:solidFill>
              </a:rPr>
              <a:t>下面是两个不同版本</a:t>
            </a:r>
            <a:r>
              <a:rPr lang="en-US" altLang="zh-CN" dirty="0">
                <a:solidFill>
                  <a:srgbClr val="1F4E79"/>
                </a:solidFill>
              </a:rPr>
              <a:t>tvm</a:t>
            </a:r>
            <a:r>
              <a:rPr lang="zh-CN" altLang="en-US" dirty="0">
                <a:solidFill>
                  <a:srgbClr val="1F4E79"/>
                </a:solidFill>
              </a:rPr>
              <a:t>的</a:t>
            </a:r>
            <a:r>
              <a:rPr lang="en-US" altLang="zh-CN" dirty="0">
                <a:solidFill>
                  <a:srgbClr val="1F4E79"/>
                </a:solidFill>
              </a:rPr>
              <a:t>auto schedule</a:t>
            </a:r>
            <a:r>
              <a:rPr lang="zh-CN" altLang="en-US" dirty="0">
                <a:solidFill>
                  <a:srgbClr val="1F4E79"/>
                </a:solidFill>
              </a:rPr>
              <a:t>的例子</a:t>
            </a:r>
            <a:r>
              <a:rPr lang="en-US" altLang="zh-CN" dirty="0">
                <a:solidFill>
                  <a:srgbClr val="1F4E79"/>
                </a:solidFill>
              </a:rPr>
              <a:t>: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9008F4E-1400-43DE-8B3C-1B2090A27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345532"/>
              </p:ext>
            </p:extLst>
          </p:nvPr>
        </p:nvGraphicFramePr>
        <p:xfrm>
          <a:off x="8183944" y="5747313"/>
          <a:ext cx="3237212" cy="858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" name="包装程序外壳对象" showAsIcon="1" r:id="rId10" imgW="1599120" imgH="423360" progId="Package">
                  <p:embed/>
                </p:oleObj>
              </mc:Choice>
              <mc:Fallback>
                <p:oleObj name="包装程序外壳对象" showAsIcon="1" r:id="rId10" imgW="1599120" imgH="42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183944" y="5747313"/>
                        <a:ext cx="3237212" cy="858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55CA4AB-2216-4A28-A454-C32A6A984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601195"/>
              </p:ext>
            </p:extLst>
          </p:nvPr>
        </p:nvGraphicFramePr>
        <p:xfrm>
          <a:off x="2306951" y="5761718"/>
          <a:ext cx="3451591" cy="915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" name="包装程序外壳对象" showAsIcon="1" r:id="rId12" imgW="1599120" imgH="423360" progId="Package">
                  <p:embed/>
                </p:oleObj>
              </mc:Choice>
              <mc:Fallback>
                <p:oleObj name="包装程序外壳对象" showAsIcon="1" r:id="rId12" imgW="1599120" imgH="42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06951" y="5761718"/>
                        <a:ext cx="3451591" cy="915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241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FB44CE-8AEA-457B-9526-C40F459B4EA6}"/>
              </a:ext>
            </a:extLst>
          </p:cNvPr>
          <p:cNvSpPr txBox="1"/>
          <p:nvPr/>
        </p:nvSpPr>
        <p:spPr>
          <a:xfrm>
            <a:off x="304800" y="716205"/>
            <a:ext cx="11272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4E79"/>
                </a:solidFill>
              </a:rPr>
              <a:t>Halide,  </a:t>
            </a:r>
            <a:r>
              <a:rPr lang="zh-CN" altLang="en-US" dirty="0">
                <a:solidFill>
                  <a:srgbClr val="1F4E79"/>
                </a:solidFill>
              </a:rPr>
              <a:t>通过将程序构造分解为固定的决策序列来定义搜索空间。然后编译器使用诸如波束搜索之类的算法（</a:t>
            </a:r>
            <a:r>
              <a:rPr lang="en-US" altLang="zh-CN" dirty="0">
                <a:solidFill>
                  <a:srgbClr val="1F4E79"/>
                </a:solidFill>
              </a:rPr>
              <a:t>Beam Search with Early Pruning</a:t>
            </a:r>
            <a:r>
              <a:rPr lang="zh-CN" altLang="en-US" dirty="0">
                <a:solidFill>
                  <a:srgbClr val="1F4E79"/>
                </a:solidFill>
              </a:rPr>
              <a:t>）来搜索好的决策</a:t>
            </a:r>
            <a:r>
              <a:rPr lang="en-US" altLang="zh-CN" dirty="0">
                <a:solidFill>
                  <a:srgbClr val="1F4E79"/>
                </a:solidFill>
              </a:rPr>
              <a:t>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CEF15B-DF3C-46BC-BB71-CFD0A157E005}"/>
              </a:ext>
            </a:extLst>
          </p:cNvPr>
          <p:cNvSpPr txBox="1"/>
          <p:nvPr/>
        </p:nvSpPr>
        <p:spPr>
          <a:xfrm>
            <a:off x="1787977" y="-52203"/>
            <a:ext cx="10248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 :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Halide auto-scheduler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BDEB8E-480A-4B0E-B743-EF42E1FD7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683" y="1303536"/>
            <a:ext cx="2935744" cy="262388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C8B85F8-60DF-40D3-9868-E89946506CA7}"/>
              </a:ext>
            </a:extLst>
          </p:cNvPr>
          <p:cNvSpPr txBox="1"/>
          <p:nvPr/>
        </p:nvSpPr>
        <p:spPr>
          <a:xfrm>
            <a:off x="304800" y="4053090"/>
            <a:ext cx="108258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4E79"/>
                </a:solidFill>
              </a:rPr>
              <a:t>编译器通过依次</a:t>
            </a:r>
            <a:r>
              <a:rPr lang="en-US" altLang="zh-CN" dirty="0">
                <a:solidFill>
                  <a:srgbClr val="1F4E79"/>
                </a:solidFill>
              </a:rPr>
              <a:t>unfold</a:t>
            </a:r>
            <a:r>
              <a:rPr lang="zh-CN" altLang="en-US" dirty="0">
                <a:solidFill>
                  <a:srgbClr val="1F4E79"/>
                </a:solidFill>
              </a:rPr>
              <a:t>计算图中的所有节点来构造张量化程序。对于每个节点，编译器就如何将其转换为</a:t>
            </a:r>
            <a:r>
              <a:rPr lang="en-US" altLang="zh-CN" dirty="0">
                <a:solidFill>
                  <a:srgbClr val="1F4E79"/>
                </a:solidFill>
              </a:rPr>
              <a:t>low-level</a:t>
            </a:r>
            <a:r>
              <a:rPr lang="zh-CN" altLang="en-US" dirty="0">
                <a:solidFill>
                  <a:srgbClr val="1F4E79"/>
                </a:solidFill>
              </a:rPr>
              <a:t>张量化程序做出一些决策（</a:t>
            </a:r>
            <a:r>
              <a:rPr lang="en-US" altLang="zh-CN" dirty="0">
                <a:solidFill>
                  <a:srgbClr val="1F4E79"/>
                </a:solidFill>
              </a:rPr>
              <a:t>storage location</a:t>
            </a:r>
            <a:r>
              <a:rPr lang="zh-CN" altLang="en-US" dirty="0">
                <a:solidFill>
                  <a:srgbClr val="1F4E79"/>
                </a:solidFill>
              </a:rPr>
              <a:t>、</a:t>
            </a:r>
            <a:r>
              <a:rPr lang="en-US" altLang="zh-CN" dirty="0">
                <a:solidFill>
                  <a:srgbClr val="1F4E79"/>
                </a:solidFill>
              </a:rPr>
              <a:t>tile size</a:t>
            </a:r>
            <a:r>
              <a:rPr lang="zh-CN" altLang="en-US" dirty="0">
                <a:solidFill>
                  <a:srgbClr val="1F4E79"/>
                </a:solidFill>
              </a:rPr>
              <a:t>等</a:t>
            </a:r>
            <a:r>
              <a:rPr lang="en-US" altLang="zh-CN" dirty="0">
                <a:solidFill>
                  <a:srgbClr val="1F4E79"/>
                </a:solidFill>
              </a:rPr>
              <a:t>)</a:t>
            </a:r>
            <a:r>
              <a:rPr lang="zh-CN" altLang="en-US" dirty="0">
                <a:solidFill>
                  <a:srgbClr val="1F4E79"/>
                </a:solidFill>
              </a:rPr>
              <a:t>，当所有节点都</a:t>
            </a:r>
            <a:r>
              <a:rPr lang="en-US" altLang="zh-CN" dirty="0">
                <a:solidFill>
                  <a:srgbClr val="1F4E79"/>
                </a:solidFill>
              </a:rPr>
              <a:t>unfold</a:t>
            </a:r>
            <a:r>
              <a:rPr lang="zh-CN" altLang="en-US" dirty="0">
                <a:solidFill>
                  <a:srgbClr val="1F4E79"/>
                </a:solidFill>
              </a:rPr>
              <a:t>后，就构建了一个完整的张量化程序。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964B60-B110-453B-80C1-2AE8F54E3626}"/>
              </a:ext>
            </a:extLst>
          </p:cNvPr>
          <p:cNvSpPr txBox="1"/>
          <p:nvPr/>
        </p:nvSpPr>
        <p:spPr>
          <a:xfrm>
            <a:off x="304799" y="5023369"/>
            <a:ext cx="117320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4E79"/>
                </a:solidFill>
              </a:rPr>
              <a:t>缺点</a:t>
            </a:r>
            <a:r>
              <a:rPr lang="en-US" altLang="zh-CN" dirty="0">
                <a:solidFill>
                  <a:srgbClr val="1F4E79"/>
                </a:solidFill>
              </a:rPr>
              <a:t>:</a:t>
            </a:r>
          </a:p>
          <a:p>
            <a:r>
              <a:rPr lang="zh-CN" altLang="en-US" dirty="0">
                <a:solidFill>
                  <a:srgbClr val="1F4E79"/>
                </a:solidFill>
              </a:rPr>
              <a:t>  </a:t>
            </a:r>
            <a:r>
              <a:rPr lang="en-US" altLang="zh-CN" dirty="0">
                <a:solidFill>
                  <a:srgbClr val="1F4E79"/>
                </a:solidFill>
              </a:rPr>
              <a:t>1. </a:t>
            </a:r>
            <a:r>
              <a:rPr lang="zh-CN" altLang="en-US" dirty="0">
                <a:solidFill>
                  <a:srgbClr val="1F4E79"/>
                </a:solidFill>
              </a:rPr>
              <a:t>搜索空间狭窄</a:t>
            </a:r>
            <a:endParaRPr lang="en-US" altLang="zh-CN" dirty="0">
              <a:solidFill>
                <a:srgbClr val="1F4E79"/>
              </a:solidFill>
            </a:endParaRPr>
          </a:p>
          <a:p>
            <a:r>
              <a:rPr lang="en-US" altLang="zh-CN" dirty="0">
                <a:solidFill>
                  <a:srgbClr val="1F4E79"/>
                </a:solidFill>
              </a:rPr>
              <a:t>        </a:t>
            </a:r>
            <a:r>
              <a:rPr lang="zh-CN" altLang="en-US" dirty="0">
                <a:solidFill>
                  <a:srgbClr val="1F4E79"/>
                </a:solidFill>
              </a:rPr>
              <a:t>由于决策可能选择数量很大，为了使</a:t>
            </a:r>
            <a:r>
              <a:rPr lang="en-US" altLang="zh-CN" dirty="0">
                <a:solidFill>
                  <a:srgbClr val="1F4E79"/>
                </a:solidFill>
              </a:rPr>
              <a:t>sequential</a:t>
            </a:r>
            <a:r>
              <a:rPr lang="zh-CN" altLang="en-US" dirty="0">
                <a:solidFill>
                  <a:srgbClr val="1F4E79"/>
                </a:solidFill>
              </a:rPr>
              <a:t>过程可行，这种方法在每个决策后只保留前 </a:t>
            </a:r>
            <a:r>
              <a:rPr lang="en-US" altLang="zh-CN" dirty="0">
                <a:solidFill>
                  <a:srgbClr val="1F4E79"/>
                </a:solidFill>
              </a:rPr>
              <a:t>k </a:t>
            </a:r>
            <a:r>
              <a:rPr lang="zh-CN" altLang="en-US" dirty="0">
                <a:solidFill>
                  <a:srgbClr val="1F4E79"/>
                </a:solidFill>
              </a:rPr>
              <a:t>个候选程序。</a:t>
            </a:r>
            <a:endParaRPr lang="en-US" altLang="zh-CN" dirty="0">
              <a:solidFill>
                <a:srgbClr val="1F4E79"/>
              </a:solidFill>
            </a:endParaRPr>
          </a:p>
          <a:p>
            <a:r>
              <a:rPr lang="en-US" altLang="zh-CN" dirty="0">
                <a:solidFill>
                  <a:srgbClr val="1F4E79"/>
                </a:solidFill>
              </a:rPr>
              <a:t>  2. CostModel</a:t>
            </a:r>
            <a:r>
              <a:rPr lang="zh-CN" altLang="en-US" dirty="0">
                <a:solidFill>
                  <a:srgbClr val="1F4E79"/>
                </a:solidFill>
              </a:rPr>
              <a:t>评估不准确</a:t>
            </a:r>
            <a:endParaRPr lang="en-US" altLang="zh-CN" dirty="0">
              <a:solidFill>
                <a:srgbClr val="1F4E79"/>
              </a:solidFill>
            </a:endParaRPr>
          </a:p>
          <a:p>
            <a:r>
              <a:rPr lang="zh-CN" altLang="en-US" dirty="0">
                <a:solidFill>
                  <a:srgbClr val="1F4E79"/>
                </a:solidFill>
              </a:rPr>
              <a:t>      在搜索过程中，候选程序是不完整的，因为只有部分计算图被展开或只做出了一些决策。</a:t>
            </a:r>
          </a:p>
        </p:txBody>
      </p:sp>
    </p:spTree>
    <p:extLst>
      <p:ext uri="{BB962C8B-B14F-4D97-AF65-F5344CB8AC3E}">
        <p14:creationId xmlns:p14="http://schemas.microsoft.com/office/powerpoint/2010/main" val="3468442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FB44CE-8AEA-457B-9526-C40F459B4EA6}"/>
              </a:ext>
            </a:extLst>
          </p:cNvPr>
          <p:cNvSpPr txBox="1"/>
          <p:nvPr/>
        </p:nvSpPr>
        <p:spPr>
          <a:xfrm>
            <a:off x="544286" y="1011546"/>
            <a:ext cx="112721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Generate sketches</a:t>
            </a:r>
            <a:r>
              <a:rPr lang="zh-CN" altLang="en-US" sz="2000" dirty="0">
                <a:solidFill>
                  <a:srgbClr val="1F4E79"/>
                </a:solidFill>
              </a:rPr>
              <a:t>的</a:t>
            </a:r>
            <a:r>
              <a:rPr lang="en-US" altLang="zh-CN" sz="2000" dirty="0">
                <a:solidFill>
                  <a:srgbClr val="1F4E79"/>
                </a:solidFill>
              </a:rPr>
              <a:t>rule3 Multi-level Tiling </a:t>
            </a:r>
            <a:r>
              <a:rPr lang="zh-CN" altLang="en-US" sz="2000" dirty="0">
                <a:solidFill>
                  <a:srgbClr val="1F4E79"/>
                </a:solidFill>
              </a:rPr>
              <a:t>在 </a:t>
            </a:r>
            <a:r>
              <a:rPr lang="en-US" altLang="zh-CN" sz="2000" dirty="0">
                <a:solidFill>
                  <a:srgbClr val="1F4E79"/>
                </a:solidFill>
              </a:rPr>
              <a:t>CPU</a:t>
            </a:r>
            <a:r>
              <a:rPr lang="zh-CN" altLang="en-US" sz="2000" dirty="0">
                <a:solidFill>
                  <a:srgbClr val="1F4E79"/>
                </a:solidFill>
              </a:rPr>
              <a:t>上以</a:t>
            </a:r>
            <a:r>
              <a:rPr lang="en-US" altLang="zh-CN" sz="2000" dirty="0">
                <a:solidFill>
                  <a:srgbClr val="1F4E79"/>
                </a:solidFill>
              </a:rPr>
              <a:t>ssrsrs</a:t>
            </a:r>
            <a:r>
              <a:rPr lang="zh-CN" altLang="en-US" sz="2000" dirty="0">
                <a:solidFill>
                  <a:srgbClr val="1F4E79"/>
                </a:solidFill>
              </a:rPr>
              <a:t>结构展开；</a:t>
            </a:r>
            <a:endParaRPr lang="en-US" altLang="zh-CN" sz="2000" dirty="0">
              <a:solidFill>
                <a:srgbClr val="1F4E79"/>
              </a:solidFill>
            </a:endParaRPr>
          </a:p>
          <a:p>
            <a:endParaRPr lang="en-US" altLang="zh-CN" sz="2000" dirty="0">
              <a:solidFill>
                <a:srgbClr val="1F4E79"/>
              </a:solidFill>
            </a:endParaRPr>
          </a:p>
          <a:p>
            <a:r>
              <a:rPr lang="zh-CN" altLang="en-US" sz="2000" dirty="0">
                <a:solidFill>
                  <a:srgbClr val="1F4E79"/>
                </a:solidFill>
              </a:rPr>
              <a:t>下面是关于</a:t>
            </a:r>
            <a:r>
              <a:rPr lang="en-US" altLang="zh-CN" sz="2000" dirty="0">
                <a:solidFill>
                  <a:srgbClr val="1F4E79"/>
                </a:solidFill>
              </a:rPr>
              <a:t>ssrsrs</a:t>
            </a:r>
            <a:r>
              <a:rPr lang="zh-CN" altLang="en-US" sz="2000" dirty="0">
                <a:solidFill>
                  <a:srgbClr val="1F4E79"/>
                </a:solidFill>
              </a:rPr>
              <a:t>结构的例子，以及手工优化一次参数后的版本对比：</a:t>
            </a:r>
            <a:endParaRPr lang="en-US" altLang="zh-CN" sz="2000" dirty="0">
              <a:solidFill>
                <a:srgbClr val="1F4E79"/>
              </a:solidFill>
            </a:endParaRPr>
          </a:p>
          <a:p>
            <a:r>
              <a:rPr lang="en-US" altLang="zh-CN" sz="2000" dirty="0">
                <a:solidFill>
                  <a:srgbClr val="1F4E79"/>
                </a:solidFill>
              </a:rPr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CEF15B-DF3C-46BC-BB71-CFD0A157E005}"/>
              </a:ext>
            </a:extLst>
          </p:cNvPr>
          <p:cNvSpPr txBox="1"/>
          <p:nvPr/>
        </p:nvSpPr>
        <p:spPr>
          <a:xfrm>
            <a:off x="3048000" y="-435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ddition: test ssrsrs rule 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6A1E6B8-042A-45F9-A5BE-72A53CE473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460039"/>
              </p:ext>
            </p:extLst>
          </p:nvPr>
        </p:nvGraphicFramePr>
        <p:xfrm>
          <a:off x="7151914" y="2403869"/>
          <a:ext cx="3190158" cy="1241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1" name="包装程序外壳对象" showAsIcon="1" r:id="rId4" imgW="1089360" imgH="423360" progId="Package">
                  <p:embed/>
                </p:oleObj>
              </mc:Choice>
              <mc:Fallback>
                <p:oleObj name="包装程序外壳对象" showAsIcon="1" r:id="rId4" imgW="1089360" imgH="42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51914" y="2403869"/>
                        <a:ext cx="3190158" cy="1241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E07D7E-A00C-4620-A9CB-FE1B85A9D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892020"/>
              </p:ext>
            </p:extLst>
          </p:nvPr>
        </p:nvGraphicFramePr>
        <p:xfrm>
          <a:off x="1408339" y="2465148"/>
          <a:ext cx="3279322" cy="119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2" name="包装程序外壳对象" showAsIcon="1" r:id="rId6" imgW="1158840" imgH="423360" progId="Package">
                  <p:embed/>
                </p:oleObj>
              </mc:Choice>
              <mc:Fallback>
                <p:oleObj name="包装程序外壳对象" showAsIcon="1" r:id="rId6" imgW="1158840" imgH="42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08339" y="2465148"/>
                        <a:ext cx="3279322" cy="119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B9DA713D-6E60-4322-AAF5-20592233AD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6143" y="4134844"/>
            <a:ext cx="9608441" cy="99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66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861B80E-4535-4D5C-8C82-EF247C81C867}"/>
              </a:ext>
            </a:extLst>
          </p:cNvPr>
          <p:cNvSpPr txBox="1"/>
          <p:nvPr/>
        </p:nvSpPr>
        <p:spPr>
          <a:xfrm>
            <a:off x="1768928" y="-37778"/>
            <a:ext cx="9476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：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 Evolutionary Search Fine-tune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53AB17-3668-4C9E-8E04-65FF671E1CA2}"/>
              </a:ext>
            </a:extLst>
          </p:cNvPr>
          <p:cNvSpPr txBox="1"/>
          <p:nvPr/>
        </p:nvSpPr>
        <p:spPr>
          <a:xfrm>
            <a:off x="881744" y="1166842"/>
            <a:ext cx="107442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600" b="1" dirty="0">
              <a:solidFill>
                <a:srgbClr val="1F4E79"/>
              </a:solidFill>
            </a:endParaRPr>
          </a:p>
          <a:p>
            <a:endParaRPr lang="en-US" altLang="zh-CN" sz="1600" b="1" dirty="0">
              <a:solidFill>
                <a:srgbClr val="1F4E79"/>
              </a:solidFill>
              <a:latin typeface="-apple-system"/>
            </a:endParaRPr>
          </a:p>
          <a:p>
            <a:r>
              <a:rPr lang="en-US" altLang="zh-CN" sz="1600" b="1" dirty="0">
                <a:solidFill>
                  <a:srgbClr val="1F4E79"/>
                </a:solidFill>
              </a:rPr>
              <a:t>Tile size mutation </a:t>
            </a:r>
            <a:r>
              <a:rPr lang="zh-CN" altLang="en-US" sz="1600" dirty="0">
                <a:solidFill>
                  <a:srgbClr val="1F4E79"/>
                </a:solidFill>
              </a:rPr>
              <a:t>此操作扫描程序并随机选择一个</a:t>
            </a:r>
            <a:r>
              <a:rPr lang="en-US" altLang="zh-CN" sz="1600" dirty="0">
                <a:solidFill>
                  <a:srgbClr val="1F4E79"/>
                </a:solidFill>
              </a:rPr>
              <a:t>tiled</a:t>
            </a:r>
            <a:r>
              <a:rPr lang="zh-CN" altLang="en-US" sz="1600" dirty="0">
                <a:solidFill>
                  <a:srgbClr val="1F4E79"/>
                </a:solidFill>
              </a:rPr>
              <a:t>循环。 对于这个</a:t>
            </a:r>
            <a:r>
              <a:rPr lang="en-US" altLang="zh-CN" sz="1600" dirty="0">
                <a:solidFill>
                  <a:srgbClr val="1F4E79"/>
                </a:solidFill>
              </a:rPr>
              <a:t>tiled</a:t>
            </a:r>
            <a:r>
              <a:rPr lang="zh-CN" altLang="en-US" sz="1600" dirty="0">
                <a:solidFill>
                  <a:srgbClr val="1F4E79"/>
                </a:solidFill>
              </a:rPr>
              <a:t>循环，它将随机选择一个循环将其长度随机除以一个数，并将这个数乘到另外一个循环上。 由于此操作使</a:t>
            </a:r>
            <a:r>
              <a:rPr lang="en-US" altLang="zh-CN" sz="1600" dirty="0">
                <a:solidFill>
                  <a:srgbClr val="1F4E79"/>
                </a:solidFill>
              </a:rPr>
              <a:t>tile </a:t>
            </a:r>
            <a:r>
              <a:rPr lang="zh-CN" altLang="en-US" sz="1600" dirty="0">
                <a:solidFill>
                  <a:srgbClr val="1F4E79"/>
                </a:solidFill>
              </a:rPr>
              <a:t>尺寸的乘积等于原始循环长度，因此变异程序始终有效。</a:t>
            </a:r>
          </a:p>
          <a:p>
            <a:endParaRPr lang="zh-CN" altLang="en-US" sz="1600" dirty="0">
              <a:solidFill>
                <a:srgbClr val="1F4E79"/>
              </a:solidFill>
            </a:endParaRPr>
          </a:p>
          <a:p>
            <a:r>
              <a:rPr lang="en-US" altLang="zh-CN" sz="1600" b="1" dirty="0">
                <a:solidFill>
                  <a:srgbClr val="1F4E79"/>
                </a:solidFill>
              </a:rPr>
              <a:t>Parallel mutation </a:t>
            </a:r>
            <a:r>
              <a:rPr lang="zh-CN" altLang="en-US" sz="1600" dirty="0">
                <a:solidFill>
                  <a:srgbClr val="1F4E79"/>
                </a:solidFill>
              </a:rPr>
              <a:t>此操作扫描程序并随机选择一个已用并行注释的循环。对于此循环，此操作通过融合其相邻循环或者通过一个</a:t>
            </a:r>
            <a:r>
              <a:rPr lang="en-US" altLang="zh-CN" sz="1600" dirty="0">
                <a:solidFill>
                  <a:srgbClr val="1F4E79"/>
                </a:solidFill>
              </a:rPr>
              <a:t>factor</a:t>
            </a:r>
            <a:r>
              <a:rPr lang="zh-CN" altLang="en-US" sz="1600" dirty="0">
                <a:solidFill>
                  <a:srgbClr val="1F4E79"/>
                </a:solidFill>
              </a:rPr>
              <a:t>分解此循环来改变并行的粒度。</a:t>
            </a:r>
          </a:p>
          <a:p>
            <a:endParaRPr lang="zh-CN" altLang="en-US" sz="1600" dirty="0">
              <a:solidFill>
                <a:srgbClr val="1F4E79"/>
              </a:solidFill>
            </a:endParaRPr>
          </a:p>
          <a:p>
            <a:r>
              <a:rPr lang="en-US" altLang="zh-CN" sz="1600" b="1" dirty="0">
                <a:solidFill>
                  <a:srgbClr val="1F4E79"/>
                </a:solidFill>
              </a:rPr>
              <a:t>Pragma mutation  </a:t>
            </a:r>
            <a:r>
              <a:rPr lang="zh-CN" altLang="en-US" sz="1600" dirty="0">
                <a:solidFill>
                  <a:srgbClr val="1F4E79"/>
                </a:solidFill>
              </a:rPr>
              <a:t>程序中的某些优化由特定于编译器的编译</a:t>
            </a:r>
            <a:r>
              <a:rPr lang="en-US" altLang="zh-CN" sz="1600" dirty="0">
                <a:solidFill>
                  <a:srgbClr val="1F4E79"/>
                </a:solidFill>
              </a:rPr>
              <a:t>pragma</a:t>
            </a:r>
            <a:r>
              <a:rPr lang="zh-CN" altLang="en-US" sz="1600" dirty="0">
                <a:solidFill>
                  <a:srgbClr val="1F4E79"/>
                </a:solidFill>
              </a:rPr>
              <a:t>指定。 此操作扫描程序并随机选择一个编译</a:t>
            </a:r>
            <a:r>
              <a:rPr lang="en-US" altLang="zh-CN" sz="1600" dirty="0">
                <a:solidFill>
                  <a:srgbClr val="1F4E79"/>
                </a:solidFill>
              </a:rPr>
              <a:t>pragma</a:t>
            </a:r>
            <a:r>
              <a:rPr lang="zh-CN" altLang="en-US" sz="1600" dirty="0">
                <a:solidFill>
                  <a:srgbClr val="1F4E79"/>
                </a:solidFill>
              </a:rPr>
              <a:t>。 对于这个 </a:t>
            </a:r>
            <a:r>
              <a:rPr lang="en-US" altLang="zh-CN" sz="1600" dirty="0">
                <a:solidFill>
                  <a:srgbClr val="1F4E79"/>
                </a:solidFill>
              </a:rPr>
              <a:t>pragma</a:t>
            </a:r>
            <a:r>
              <a:rPr lang="zh-CN" altLang="en-US" sz="1600" dirty="0">
                <a:solidFill>
                  <a:srgbClr val="1F4E79"/>
                </a:solidFill>
              </a:rPr>
              <a:t>，这个操作会随机将其变异为另一个有效值。例如，我们的底层代码生成器通过提供一个</a:t>
            </a:r>
            <a:r>
              <a:rPr lang="en-US" altLang="zh-CN" sz="1600" dirty="0">
                <a:solidFill>
                  <a:srgbClr val="1F4E79"/>
                </a:solidFill>
              </a:rPr>
              <a:t>auto_unroll_max_step=N pragma </a:t>
            </a:r>
            <a:r>
              <a:rPr lang="zh-CN" altLang="en-US" sz="1600" dirty="0">
                <a:solidFill>
                  <a:srgbClr val="1F4E79"/>
                </a:solidFill>
              </a:rPr>
              <a:t>来支持最大步数的自动展开。 我们随机调整数字 </a:t>
            </a:r>
            <a:r>
              <a:rPr lang="en-US" altLang="zh-CN" sz="1600" dirty="0">
                <a:solidFill>
                  <a:srgbClr val="1F4E79"/>
                </a:solidFill>
              </a:rPr>
              <a:t>N</a:t>
            </a:r>
            <a:r>
              <a:rPr lang="zh-CN" altLang="en-US" sz="1600" dirty="0">
                <a:solidFill>
                  <a:srgbClr val="1F4E79"/>
                </a:solidFill>
              </a:rPr>
              <a:t>。</a:t>
            </a:r>
          </a:p>
          <a:p>
            <a:endParaRPr lang="zh-CN" altLang="en-US" sz="1600" dirty="0">
              <a:solidFill>
                <a:srgbClr val="1F4E79"/>
              </a:solidFill>
            </a:endParaRPr>
          </a:p>
          <a:p>
            <a:r>
              <a:rPr lang="en-US" altLang="zh-CN" sz="1600" b="1" dirty="0">
                <a:solidFill>
                  <a:srgbClr val="1F4E79"/>
                </a:solidFill>
              </a:rPr>
              <a:t>Computation location mutation </a:t>
            </a:r>
            <a:r>
              <a:rPr lang="zh-CN" altLang="en-US" sz="1600" dirty="0">
                <a:solidFill>
                  <a:srgbClr val="1F4E79"/>
                </a:solidFill>
              </a:rPr>
              <a:t>该操作扫描程序并随机选择一个不是多级</a:t>
            </a:r>
            <a:r>
              <a:rPr lang="en-US" altLang="zh-CN" sz="1600" dirty="0">
                <a:solidFill>
                  <a:srgbClr val="1F4E79"/>
                </a:solidFill>
              </a:rPr>
              <a:t>tiled</a:t>
            </a:r>
            <a:r>
              <a:rPr lang="zh-CN" altLang="en-US" sz="1600" dirty="0">
                <a:solidFill>
                  <a:srgbClr val="1F4E79"/>
                </a:solidFill>
              </a:rPr>
              <a:t>的灵活节点（例如，卷积层中的填充节点）。 对于这个节点，操作随机改变它的计算位置到另一个有效的节点。（这里个人理解就是</a:t>
            </a:r>
            <a:r>
              <a:rPr lang="en-US" altLang="zh-CN" sz="1600" dirty="0">
                <a:solidFill>
                  <a:srgbClr val="1F4E79"/>
                </a:solidFill>
              </a:rPr>
              <a:t>Pad</a:t>
            </a:r>
            <a:r>
              <a:rPr lang="zh-CN" altLang="en-US" sz="1600" dirty="0">
                <a:solidFill>
                  <a:srgbClr val="1F4E79"/>
                </a:solidFill>
              </a:rPr>
              <a:t>可以提前做，不改变</a:t>
            </a:r>
            <a:r>
              <a:rPr lang="en-US" altLang="zh-CN" sz="1600" dirty="0">
                <a:solidFill>
                  <a:srgbClr val="1F4E79"/>
                </a:solidFill>
              </a:rPr>
              <a:t>Feature Map</a:t>
            </a:r>
            <a:r>
              <a:rPr lang="zh-CN" altLang="en-US" sz="1600" dirty="0">
                <a:solidFill>
                  <a:srgbClr val="1F4E79"/>
                </a:solidFill>
              </a:rPr>
              <a:t>大小）</a:t>
            </a:r>
          </a:p>
          <a:p>
            <a:endParaRPr lang="zh-CN" altLang="en-US" sz="1600" dirty="0">
              <a:solidFill>
                <a:srgbClr val="1F4E79"/>
              </a:solidFill>
            </a:endParaRPr>
          </a:p>
          <a:p>
            <a:r>
              <a:rPr lang="en-US" altLang="zh-CN" sz="1600" b="1" dirty="0">
                <a:solidFill>
                  <a:srgbClr val="1F4E79"/>
                </a:solidFill>
              </a:rPr>
              <a:t>Node-based crossover </a:t>
            </a:r>
            <a:r>
              <a:rPr lang="zh-CN" altLang="en-US" sz="1600" dirty="0">
                <a:solidFill>
                  <a:srgbClr val="1F4E79"/>
                </a:solidFill>
              </a:rPr>
              <a:t>交叉是通过组合来自两个或多个父母的基因来产生新后代的操作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。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Ansor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在草图生成和随机注释期间为每个程序保留完整的重写历史，可以将重写步骤视为程序的基因。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Ansor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中交叉操作的粒度基于 </a:t>
            </a:r>
            <a:r>
              <a:rPr lang="en-US" altLang="zh-CN" sz="1600" dirty="0">
                <a:solidFill>
                  <a:srgbClr val="1F4E79"/>
                </a:solidFill>
                <a:latin typeface="+mj-lt"/>
              </a:rPr>
              <a:t>DAG </a:t>
            </a:r>
            <a:r>
              <a:rPr lang="zh-CN" altLang="en-US" sz="1600" dirty="0">
                <a:solidFill>
                  <a:srgbClr val="1F4E79"/>
                </a:solidFill>
                <a:latin typeface="+mj-lt"/>
              </a:rPr>
              <a:t>中的节点，因为跨不同节点的重写步骤通常具有较少的依赖性。重写之后，会进一步验证合并的程序以保证功能的正确性。验证很简单，因为只使用了一小部分循环转换重写步骤，底层代码生成器可以通过依赖分析来检查正确性。</a:t>
            </a:r>
          </a:p>
          <a:p>
            <a:endParaRPr lang="zh-CN" altLang="en-US" sz="1600" dirty="0">
              <a:latin typeface="+mj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DD9F69-5649-4C1D-B484-2EAB5E1F1CB6}"/>
              </a:ext>
            </a:extLst>
          </p:cNvPr>
          <p:cNvSpPr txBox="1"/>
          <p:nvPr/>
        </p:nvSpPr>
        <p:spPr>
          <a:xfrm>
            <a:off x="323849" y="1033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F4E79"/>
                </a:solidFill>
              </a:rPr>
              <a:t>进化操作</a:t>
            </a:r>
            <a:r>
              <a:rPr lang="en-US" altLang="zh-CN" sz="2400" b="1" dirty="0">
                <a:solidFill>
                  <a:srgbClr val="1F4E79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2831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FB44CE-8AEA-457B-9526-C40F459B4EA6}"/>
              </a:ext>
            </a:extLst>
          </p:cNvPr>
          <p:cNvSpPr txBox="1"/>
          <p:nvPr/>
        </p:nvSpPr>
        <p:spPr>
          <a:xfrm>
            <a:off x="280336" y="667743"/>
            <a:ext cx="10466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F4E79"/>
                </a:solidFill>
              </a:rPr>
              <a:t>Search a set of parameters : 0 </a:t>
            </a:r>
            <a:r>
              <a:rPr lang="zh-CN" altLang="en-US" sz="2000" dirty="0">
                <a:solidFill>
                  <a:srgbClr val="1F4E79"/>
                </a:solidFill>
              </a:rPr>
              <a:t>章节有提到 </a:t>
            </a:r>
            <a:r>
              <a:rPr lang="en-US" altLang="zh-CN" sz="2000" dirty="0">
                <a:solidFill>
                  <a:srgbClr val="1F4E79"/>
                </a:solidFill>
              </a:rPr>
              <a:t>tvm</a:t>
            </a:r>
            <a:r>
              <a:rPr lang="zh-CN" altLang="en-US" sz="2000" dirty="0">
                <a:solidFill>
                  <a:srgbClr val="1F4E79"/>
                </a:solidFill>
              </a:rPr>
              <a:t>的</a:t>
            </a:r>
            <a:r>
              <a:rPr lang="en-US" altLang="zh-CN" sz="2000" dirty="0">
                <a:solidFill>
                  <a:srgbClr val="1F4E79"/>
                </a:solidFill>
              </a:rPr>
              <a:t>schedule</a:t>
            </a:r>
            <a:r>
              <a:rPr lang="zh-CN" altLang="en-US" sz="2000" dirty="0">
                <a:solidFill>
                  <a:srgbClr val="1F4E79"/>
                </a:solidFill>
              </a:rPr>
              <a:t>的元操作：</a:t>
            </a:r>
            <a:r>
              <a:rPr lang="en-US" altLang="zh-CN" sz="2000" dirty="0">
                <a:solidFill>
                  <a:srgbClr val="1F4E79"/>
                </a:solidFill>
              </a:rPr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CEF15B-DF3C-46BC-BB71-CFD0A157E005}"/>
              </a:ext>
            </a:extLst>
          </p:cNvPr>
          <p:cNvSpPr txBox="1"/>
          <p:nvPr/>
        </p:nvSpPr>
        <p:spPr>
          <a:xfrm>
            <a:off x="3048000" y="-435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ddition:  meta schedule api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B010FA-36A7-438F-8507-19ABB9AD9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50" y="1277926"/>
            <a:ext cx="10586301" cy="16477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38D7F16-B968-4BC1-B662-506DD43B93CF}"/>
              </a:ext>
            </a:extLst>
          </p:cNvPr>
          <p:cNvSpPr txBox="1"/>
          <p:nvPr/>
        </p:nvSpPr>
        <p:spPr>
          <a:xfrm>
            <a:off x="76258" y="3596028"/>
            <a:ext cx="10466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F4E79"/>
                </a:solidFill>
              </a:rPr>
              <a:t>比如</a:t>
            </a:r>
            <a:r>
              <a:rPr lang="en-US" altLang="zh-CN" sz="2000" dirty="0">
                <a:solidFill>
                  <a:srgbClr val="1F4E79"/>
                </a:solidFill>
              </a:rPr>
              <a:t>fuse.py</a:t>
            </a:r>
            <a:r>
              <a:rPr lang="zh-CN" altLang="en-US" sz="2000" dirty="0">
                <a:solidFill>
                  <a:srgbClr val="1F4E79"/>
                </a:solidFill>
              </a:rPr>
              <a:t>的操作</a:t>
            </a:r>
            <a:r>
              <a:rPr lang="en-US" altLang="zh-CN" sz="2000" dirty="0">
                <a:solidFill>
                  <a:srgbClr val="1F4E79"/>
                </a:solidFill>
              </a:rPr>
              <a:t>: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8E9CECA-C571-48C0-935E-2CFE8879D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15" y="4063603"/>
            <a:ext cx="5186631" cy="1649257"/>
          </a:xfrm>
          <a:prstGeom prst="rect">
            <a:avLst/>
          </a:prstGeom>
        </p:spPr>
      </p:pic>
      <p:sp>
        <p:nvSpPr>
          <p:cNvPr id="12" name="MH_SubTitle_2">
            <a:extLst>
              <a:ext uri="{FF2B5EF4-FFF2-40B4-BE49-F238E27FC236}">
                <a16:creationId xmlns:a16="http://schemas.microsoft.com/office/drawing/2014/main" id="{77CDFED7-A76D-4D4F-958F-C6A89333F28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5592174" y="4732789"/>
            <a:ext cx="491255" cy="310885"/>
          </a:xfrm>
          <a:custGeom>
            <a:avLst/>
            <a:gdLst>
              <a:gd name="connsiteX0" fmla="*/ 520353 w 3024977"/>
              <a:gd name="connsiteY0" fmla="*/ 0 h 790148"/>
              <a:gd name="connsiteX1" fmla="*/ 520353 w 3024977"/>
              <a:gd name="connsiteY1" fmla="*/ 154147 h 790148"/>
              <a:gd name="connsiteX2" fmla="*/ 3024977 w 3024977"/>
              <a:gd name="connsiteY2" fmla="*/ 154147 h 790148"/>
              <a:gd name="connsiteX3" fmla="*/ 3024977 w 3024977"/>
              <a:gd name="connsiteY3" fmla="*/ 636001 h 790148"/>
              <a:gd name="connsiteX4" fmla="*/ 520353 w 3024977"/>
              <a:gd name="connsiteY4" fmla="*/ 636001 h 790148"/>
              <a:gd name="connsiteX5" fmla="*/ 520353 w 3024977"/>
              <a:gd name="connsiteY5" fmla="*/ 790148 h 790148"/>
              <a:gd name="connsiteX6" fmla="*/ 0 w 3024977"/>
              <a:gd name="connsiteY6" fmla="*/ 395074 h 79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4977" h="790148">
                <a:moveTo>
                  <a:pt x="520353" y="0"/>
                </a:moveTo>
                <a:lnTo>
                  <a:pt x="520353" y="154147"/>
                </a:lnTo>
                <a:lnTo>
                  <a:pt x="3024977" y="154147"/>
                </a:lnTo>
                <a:lnTo>
                  <a:pt x="3024977" y="636001"/>
                </a:lnTo>
                <a:lnTo>
                  <a:pt x="520353" y="636001"/>
                </a:lnTo>
                <a:lnTo>
                  <a:pt x="520353" y="790148"/>
                </a:lnTo>
                <a:lnTo>
                  <a:pt x="0" y="39507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pPr algn="ctr"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DC54B6C-D9DB-4B03-839D-1EB18509B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156" y="4043848"/>
            <a:ext cx="5438575" cy="168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02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861B80E-4535-4D5C-8C82-EF247C81C867}"/>
              </a:ext>
            </a:extLst>
          </p:cNvPr>
          <p:cNvSpPr txBox="1"/>
          <p:nvPr/>
        </p:nvSpPr>
        <p:spPr>
          <a:xfrm>
            <a:off x="1768928" y="-37778"/>
            <a:ext cx="9476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：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RelayIR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、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TE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、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TIR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4EA788-E7B5-440C-B759-7555FAD85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984" y="2155631"/>
            <a:ext cx="7417831" cy="45249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F7E8AA4-699E-42F7-AC5A-36A5BCB82A0A}"/>
              </a:ext>
            </a:extLst>
          </p:cNvPr>
          <p:cNvSpPr txBox="1"/>
          <p:nvPr/>
        </p:nvSpPr>
        <p:spPr>
          <a:xfrm>
            <a:off x="387563" y="753186"/>
            <a:ext cx="117353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1F4E79"/>
                </a:solidFill>
              </a:rPr>
              <a:t>TVM 会将前端框架的模型转化成Relay IR，基于Relay IR会进行一些优化pass。然后转化成基于Tensor的表达，并在Tensor 表达的基础上添加schedule 调度。最后会lowering成TIR 并做codegen处理。</a:t>
            </a:r>
            <a:endParaRPr lang="en-US" altLang="zh-CN" sz="1600" dirty="0">
              <a:solidFill>
                <a:srgbClr val="1F4E79"/>
              </a:solidFill>
            </a:endParaRPr>
          </a:p>
          <a:p>
            <a:endParaRPr lang="en-US" altLang="zh-CN" sz="1600" dirty="0">
              <a:solidFill>
                <a:srgbClr val="1F4E79"/>
              </a:solidFill>
            </a:endParaRPr>
          </a:p>
          <a:p>
            <a:r>
              <a:rPr lang="zh-CN" altLang="en-US" sz="1600" dirty="0">
                <a:solidFill>
                  <a:srgbClr val="1F4E79"/>
                </a:solidFill>
              </a:rPr>
              <a:t>TF/PyTorch/ONNX -&gt; Relay -&gt; TE (based on TE schedule) -&gt; TIR -&gt; C++/CUDA</a:t>
            </a:r>
          </a:p>
        </p:txBody>
      </p:sp>
    </p:spTree>
    <p:extLst>
      <p:ext uri="{BB962C8B-B14F-4D97-AF65-F5344CB8AC3E}">
        <p14:creationId xmlns:p14="http://schemas.microsoft.com/office/powerpoint/2010/main" val="1806785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861B80E-4535-4D5C-8C82-EF247C81C867}"/>
              </a:ext>
            </a:extLst>
          </p:cNvPr>
          <p:cNvSpPr txBox="1"/>
          <p:nvPr/>
        </p:nvSpPr>
        <p:spPr>
          <a:xfrm>
            <a:off x="3578874" y="-28351"/>
            <a:ext cx="9476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 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: Tvm </a:t>
            </a:r>
            <a:r>
              <a:rPr lang="zh-CN" altLang="en-US" sz="3200" b="1" dirty="0">
                <a:solidFill>
                  <a:schemeClr val="bg1"/>
                </a:solidFill>
                <a:latin typeface="+mj-lt"/>
              </a:rPr>
              <a:t>代码组件介绍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 </a:t>
            </a:r>
            <a:endParaRPr lang="en-US" altLang="zh-CN" sz="3200" b="1" i="0" dirty="0">
              <a:solidFill>
                <a:schemeClr val="bg1"/>
              </a:solidFill>
              <a:effectLst/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D155B0-9D10-48DD-9FF1-9F3358F8F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183" y="1311930"/>
            <a:ext cx="9220049" cy="421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58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861B80E-4535-4D5C-8C82-EF247C81C867}"/>
              </a:ext>
            </a:extLst>
          </p:cNvPr>
          <p:cNvSpPr txBox="1"/>
          <p:nvPr/>
        </p:nvSpPr>
        <p:spPr>
          <a:xfrm>
            <a:off x="3578874" y="-28351"/>
            <a:ext cx="9476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 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: Tvm </a:t>
            </a:r>
            <a:r>
              <a:rPr lang="zh-CN" altLang="en-US" sz="3200" b="1" dirty="0">
                <a:solidFill>
                  <a:schemeClr val="bg1"/>
                </a:solidFill>
                <a:latin typeface="+mj-lt"/>
              </a:rPr>
              <a:t>代码组件介绍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 </a:t>
            </a:r>
            <a:endParaRPr lang="en-US" altLang="zh-CN" sz="3200" b="1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DDDEEB-F065-4A10-8BF6-EA87A43EE881}"/>
              </a:ext>
            </a:extLst>
          </p:cNvPr>
          <p:cNvSpPr txBox="1"/>
          <p:nvPr/>
        </p:nvSpPr>
        <p:spPr>
          <a:xfrm>
            <a:off x="716437" y="1145285"/>
            <a:ext cx="1043547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Support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TVM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的一些通用组件，比如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socketing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，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logging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Frontends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TVM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的前端，完成各种深度学习框架的计算图到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Relay 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的转化。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Relay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：这是一个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high-level 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计算图的描述，它有自己的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表示，用这些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表示来描述神经网络结构。上面介绍的一些硬件无关的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Pass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也是基于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Relay 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完成的。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AutoTVM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/Ansor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：可选的自动调优模块。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Topi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：这是一个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Tensor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计算库，里边包含了很多神经网络通用的算子，比如矩阵乘法，点乘，卷积等。我们可以通过这些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topi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算子来进行计算。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：相对于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Relay 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，这个层次的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更接近底层和硬件实现。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表示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Tensor Expression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，用户可以通过调用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中的函数来构建</a:t>
            </a: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。（这意味着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TVM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允许用户直接通过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Te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来写神经网络）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Node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node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是在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的基础上增加了一些新的特性，可以允许用户对一些函数进行访问，这样就可以实现更复杂的表达函数。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Driver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：基于硬件的驱动。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Arith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：这个和</a:t>
            </a: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有关，可以在</a:t>
            </a: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优化时进行一些分析。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Runtime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runtime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封装了图结构的转化，优化，代码生成，以及程序在硬件上的执行，为客户提供一个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API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接口完成所有的编译过程。</a:t>
            </a:r>
          </a:p>
          <a:p>
            <a:pPr algn="l"/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注意一下这个组件交互图中的箭头，</a:t>
            </a:r>
            <a:r>
              <a:rPr lang="zh-CN" altLang="en-US" b="1" i="0" dirty="0">
                <a:solidFill>
                  <a:srgbClr val="1F4E79"/>
                </a:solidFill>
                <a:effectLst/>
                <a:latin typeface="-apple-system"/>
              </a:rPr>
              <a:t>「虚线箭头表示组件之间在实现</a:t>
            </a:r>
            <a:r>
              <a:rPr lang="en-US" altLang="zh-CN" b="1" i="0" dirty="0">
                <a:solidFill>
                  <a:srgbClr val="1F4E79"/>
                </a:solidFill>
                <a:effectLst/>
                <a:latin typeface="-apple-system"/>
              </a:rPr>
              <a:t>level</a:t>
            </a:r>
            <a:r>
              <a:rPr lang="zh-CN" altLang="en-US" b="1" i="0" dirty="0">
                <a:solidFill>
                  <a:srgbClr val="1F4E79"/>
                </a:solidFill>
                <a:effectLst/>
                <a:latin typeface="-apple-system"/>
              </a:rPr>
              <a:t>上有依赖，比如</a:t>
            </a:r>
            <a:r>
              <a:rPr lang="en-US" altLang="zh-CN" b="1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r>
              <a:rPr lang="en-US" altLang="zh-CN" b="1" i="0" dirty="0">
                <a:solidFill>
                  <a:srgbClr val="1F4E79"/>
                </a:solidFill>
                <a:effectLst/>
                <a:latin typeface="-apple-system"/>
              </a:rPr>
              <a:t> pass</a:t>
            </a:r>
            <a:r>
              <a:rPr lang="zh-CN" altLang="en-US" b="1" i="0" dirty="0">
                <a:solidFill>
                  <a:srgbClr val="1F4E79"/>
                </a:solidFill>
                <a:effectLst/>
                <a:latin typeface="-apple-system"/>
              </a:rPr>
              <a:t>在实现上必须依赖</a:t>
            </a:r>
            <a:r>
              <a:rPr lang="en-US" altLang="zh-CN" b="1" i="0" dirty="0" err="1">
                <a:solidFill>
                  <a:srgbClr val="1F4E79"/>
                </a:solidFill>
                <a:effectLst/>
                <a:latin typeface="-apple-system"/>
              </a:rPr>
              <a:t>arith</a:t>
            </a:r>
            <a:r>
              <a:rPr lang="zh-CN" altLang="en-US" b="1" i="0" dirty="0">
                <a:solidFill>
                  <a:srgbClr val="1F4E79"/>
                </a:solidFill>
                <a:effectLst/>
                <a:latin typeface="-apple-system"/>
              </a:rPr>
              <a:t>来分析。而实线箭头表示两个组件在前端</a:t>
            </a:r>
            <a:r>
              <a:rPr lang="en-US" altLang="zh-CN" b="1" i="0" dirty="0">
                <a:solidFill>
                  <a:srgbClr val="1F4E79"/>
                </a:solidFill>
                <a:effectLst/>
                <a:latin typeface="-apple-system"/>
              </a:rPr>
              <a:t>level</a:t>
            </a:r>
            <a:r>
              <a:rPr lang="zh-CN" altLang="en-US" b="1" i="0" dirty="0">
                <a:solidFill>
                  <a:srgbClr val="1F4E79"/>
                </a:solidFill>
                <a:effectLst/>
                <a:latin typeface="-apple-system"/>
              </a:rPr>
              <a:t>上有依赖关系」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，比如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Relay 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是依赖于</a:t>
            </a: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的，因为我们讲过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Relay IR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会被</a:t>
            </a:r>
            <a:r>
              <a:rPr lang="en-US" altLang="zh-CN" b="0" i="0" dirty="0">
                <a:solidFill>
                  <a:srgbClr val="1F4E79"/>
                </a:solidFill>
                <a:effectLst/>
                <a:latin typeface="-apple-system"/>
              </a:rPr>
              <a:t>lower</a:t>
            </a:r>
            <a:r>
              <a:rPr lang="zh-CN" altLang="en-US" b="0" i="0" dirty="0">
                <a:solidFill>
                  <a:srgbClr val="1F4E79"/>
                </a:solidFill>
                <a:effectLst/>
                <a:latin typeface="-apple-system"/>
              </a:rPr>
              <a:t>成</a:t>
            </a:r>
            <a:r>
              <a:rPr lang="en-US" altLang="zh-CN" b="0" i="0" dirty="0" err="1">
                <a:solidFill>
                  <a:srgbClr val="1F4E79"/>
                </a:solidFill>
                <a:effectLst/>
                <a:latin typeface="-apple-system"/>
              </a:rPr>
              <a:t>Tir</a:t>
            </a:r>
            <a:endParaRPr lang="en-US" altLang="zh-CN" b="0" i="0" dirty="0">
              <a:solidFill>
                <a:srgbClr val="1F4E79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4584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861B80E-4535-4D5C-8C82-EF247C81C867}"/>
              </a:ext>
            </a:extLst>
          </p:cNvPr>
          <p:cNvSpPr txBox="1"/>
          <p:nvPr/>
        </p:nvSpPr>
        <p:spPr>
          <a:xfrm>
            <a:off x="1768928" y="-37778"/>
            <a:ext cx="9476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ddition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+mj-lt"/>
              </a:rPr>
              <a:t>：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RelayIR</a:t>
            </a:r>
            <a:r>
              <a:rPr lang="zh-CN" altLang="en-US" sz="3200" b="1" dirty="0">
                <a:solidFill>
                  <a:schemeClr val="bg1"/>
                </a:solidFill>
                <a:latin typeface="+mj-lt"/>
              </a:rPr>
              <a:t> 编译为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lt"/>
              </a:rPr>
              <a:t>TE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7E8AA4-699E-42F7-AC5A-36A5BCB82A0A}"/>
              </a:ext>
            </a:extLst>
          </p:cNvPr>
          <p:cNvSpPr txBox="1"/>
          <p:nvPr/>
        </p:nvSpPr>
        <p:spPr>
          <a:xfrm>
            <a:off x="-9316" y="650997"/>
            <a:ext cx="11735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1F4E79"/>
                </a:solidFill>
              </a:rPr>
              <a:t>Lower</a:t>
            </a:r>
            <a:r>
              <a:rPr lang="zh-CN" altLang="en-US" sz="1600" dirty="0">
                <a:solidFill>
                  <a:srgbClr val="1F4E79"/>
                </a:solidFill>
              </a:rPr>
              <a:t>操作完成从高级算子（</a:t>
            </a:r>
            <a:r>
              <a:rPr lang="en-US" altLang="zh-CN" sz="1600" dirty="0">
                <a:solidFill>
                  <a:srgbClr val="1F4E79"/>
                </a:solidFill>
              </a:rPr>
              <a:t>relay</a:t>
            </a:r>
            <a:r>
              <a:rPr lang="zh-CN" altLang="en-US" sz="1600" dirty="0">
                <a:solidFill>
                  <a:srgbClr val="1F4E79"/>
                </a:solidFill>
              </a:rPr>
              <a:t>）到低级算子（</a:t>
            </a:r>
            <a:r>
              <a:rPr lang="en-US" altLang="zh-CN" sz="1600" dirty="0">
                <a:solidFill>
                  <a:srgbClr val="1F4E79"/>
                </a:solidFill>
              </a:rPr>
              <a:t>TOPI</a:t>
            </a:r>
            <a:r>
              <a:rPr lang="zh-CN" altLang="en-US" sz="1600" dirty="0">
                <a:solidFill>
                  <a:srgbClr val="1F4E79"/>
                </a:solidFill>
              </a:rPr>
              <a:t>）的转化。</a:t>
            </a:r>
            <a:endParaRPr lang="en-US" altLang="zh-CN" sz="1600" dirty="0">
              <a:solidFill>
                <a:srgbClr val="1F4E79"/>
              </a:solidFill>
            </a:endParaRPr>
          </a:p>
          <a:p>
            <a:r>
              <a:rPr lang="en-US" altLang="zh-CN" sz="1600" dirty="0">
                <a:solidFill>
                  <a:srgbClr val="1F4E79"/>
                </a:solidFill>
              </a:rPr>
              <a:t>Lower</a:t>
            </a:r>
            <a:r>
              <a:rPr lang="zh-CN" altLang="en-US" sz="1600" dirty="0">
                <a:solidFill>
                  <a:srgbClr val="1F4E79"/>
                </a:solidFill>
              </a:rPr>
              <a:t>开始于以下代码</a:t>
            </a:r>
            <a:r>
              <a:rPr lang="en-US" altLang="zh-CN" sz="1600" dirty="0">
                <a:solidFill>
                  <a:srgbClr val="1F4E79"/>
                </a:solidFill>
              </a:rPr>
              <a:t>(src/relay/backend/graph_runtime_codegen.cc)</a:t>
            </a:r>
          </a:p>
          <a:p>
            <a:r>
              <a:rPr lang="en-US" altLang="zh-CN" sz="1600" dirty="0">
                <a:solidFill>
                  <a:srgbClr val="1F4E79"/>
                </a:solidFill>
              </a:rPr>
              <a:t>                                            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5DAE5F3-7A53-4577-B68B-D9CABD2B2AD3}"/>
              </a:ext>
            </a:extLst>
          </p:cNvPr>
          <p:cNvGrpSpPr/>
          <p:nvPr/>
        </p:nvGrpSpPr>
        <p:grpSpPr>
          <a:xfrm>
            <a:off x="-9316" y="1308543"/>
            <a:ext cx="8180109" cy="5246353"/>
            <a:chOff x="728220" y="1299117"/>
            <a:chExt cx="8180109" cy="5246353"/>
          </a:xfrm>
        </p:grpSpPr>
        <p:sp>
          <p:nvSpPr>
            <p:cNvPr id="5" name="MH_SubTitle_2">
              <a:extLst>
                <a:ext uri="{FF2B5EF4-FFF2-40B4-BE49-F238E27FC236}">
                  <a16:creationId xmlns:a16="http://schemas.microsoft.com/office/drawing/2014/main" id="{9564CFFD-1520-48D8-B897-B1192DC9D81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6200000">
              <a:off x="3575919" y="1389582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B62DA81-34D0-4A41-87B9-E4F88C232153}"/>
                </a:ext>
              </a:extLst>
            </p:cNvPr>
            <p:cNvSpPr txBox="1"/>
            <p:nvPr/>
          </p:nvSpPr>
          <p:spPr>
            <a:xfrm>
              <a:off x="728220" y="1534428"/>
              <a:ext cx="81801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1F4E79"/>
                  </a:solidFill>
                </a:rPr>
                <a:t> 在完成内存申请优化之后，</a:t>
              </a:r>
              <a:r>
                <a:rPr lang="en-US" altLang="zh-CN" sz="1400" dirty="0">
                  <a:solidFill>
                    <a:srgbClr val="1F4E79"/>
                  </a:solidFill>
                </a:rPr>
                <a:t>VisitExpr</a:t>
              </a:r>
              <a:r>
                <a:rPr lang="zh-CN" altLang="en-US" sz="1400" dirty="0">
                  <a:solidFill>
                    <a:srgbClr val="1F4E79"/>
                  </a:solidFill>
                </a:rPr>
                <a:t>对图进行遍历并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</a:t>
              </a:r>
              <a:r>
                <a:rPr lang="zh-CN" altLang="en-US" sz="1400" dirty="0">
                  <a:solidFill>
                    <a:srgbClr val="1F4E79"/>
                  </a:solidFill>
                </a:rPr>
                <a:t>每个</a:t>
              </a:r>
              <a:r>
                <a:rPr lang="en-US" altLang="zh-CN" sz="1400" dirty="0">
                  <a:solidFill>
                    <a:srgbClr val="1F4E79"/>
                  </a:solidFill>
                </a:rPr>
                <a:t>relay</a:t>
              </a:r>
              <a:r>
                <a:rPr lang="zh-CN" altLang="en-US" sz="1400" dirty="0">
                  <a:solidFill>
                    <a:srgbClr val="1F4E79"/>
                  </a:solidFill>
                </a:rPr>
                <a:t>算子</a:t>
              </a:r>
              <a:endParaRPr lang="en-US" altLang="zh-CN" sz="1400" dirty="0">
                <a:solidFill>
                  <a:srgbClr val="1F4E79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74349BC-260F-4B2E-A84F-EC7D98182130}"/>
                </a:ext>
              </a:extLst>
            </p:cNvPr>
            <p:cNvSpPr txBox="1"/>
            <p:nvPr/>
          </p:nvSpPr>
          <p:spPr>
            <a:xfrm>
              <a:off x="1009687" y="2101302"/>
              <a:ext cx="561601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1F4E79"/>
                  </a:solidFill>
                </a:rPr>
                <a:t>当存在外部</a:t>
              </a:r>
              <a:r>
                <a:rPr lang="en-US" altLang="zh-CN" sz="1400" dirty="0">
                  <a:solidFill>
                    <a:srgbClr val="1F4E79"/>
                  </a:solidFill>
                </a:rPr>
                <a:t>compiler</a:t>
              </a:r>
              <a:r>
                <a:rPr lang="zh-CN" altLang="en-US" sz="1400" dirty="0">
                  <a:solidFill>
                    <a:srgbClr val="1F4E79"/>
                  </a:solidFill>
                </a:rPr>
                <a:t>的时候，使用外部</a:t>
              </a:r>
              <a:r>
                <a:rPr lang="en-US" altLang="zh-CN" sz="1400" dirty="0">
                  <a:solidFill>
                    <a:srgbClr val="1F4E79"/>
                  </a:solidFill>
                </a:rPr>
                <a:t>compiler</a:t>
              </a:r>
              <a:r>
                <a:rPr lang="zh-CN" altLang="en-US" sz="1400" dirty="0">
                  <a:solidFill>
                    <a:srgbClr val="1F4E79"/>
                  </a:solidFill>
                </a:rPr>
                <a:t>进行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</a:t>
              </a:r>
              <a:r>
                <a:rPr lang="zh-CN" altLang="en-US" sz="1400" dirty="0">
                  <a:solidFill>
                    <a:srgbClr val="1F4E79"/>
                  </a:solidFill>
                </a:rPr>
                <a:t>；</a:t>
              </a:r>
              <a:endParaRPr lang="en-US" altLang="zh-CN" sz="1400" dirty="0">
                <a:solidFill>
                  <a:srgbClr val="1F4E79"/>
                </a:solidFill>
              </a:endParaRPr>
            </a:p>
            <a:p>
              <a:r>
                <a:rPr lang="zh-CN" altLang="en-US" sz="1400" dirty="0">
                  <a:solidFill>
                    <a:srgbClr val="1F4E79"/>
                  </a:solidFill>
                </a:rPr>
                <a:t>如果没有外部编译器，那么</a:t>
              </a:r>
              <a:r>
                <a:rPr lang="en-US" altLang="zh-CN" sz="1400" dirty="0">
                  <a:solidFill>
                    <a:srgbClr val="1F4E79"/>
                  </a:solidFill>
                </a:rPr>
                <a:t>TVM</a:t>
              </a:r>
              <a:r>
                <a:rPr lang="zh-CN" altLang="en-US" sz="1400" dirty="0">
                  <a:solidFill>
                    <a:srgbClr val="1F4E79"/>
                  </a:solidFill>
                </a:rPr>
                <a:t>将对</a:t>
              </a:r>
              <a:r>
                <a:rPr lang="en-US" altLang="zh-CN" sz="1400" dirty="0">
                  <a:solidFill>
                    <a:srgbClr val="1F4E79"/>
                  </a:solidFill>
                </a:rPr>
                <a:t>relay</a:t>
              </a:r>
              <a:r>
                <a:rPr lang="zh-CN" altLang="en-US" sz="1400" dirty="0">
                  <a:solidFill>
                    <a:srgbClr val="1F4E79"/>
                  </a:solidFill>
                </a:rPr>
                <a:t>算子转换到</a:t>
              </a:r>
              <a:r>
                <a:rPr lang="en-US" altLang="zh-CN" sz="1400" dirty="0">
                  <a:solidFill>
                    <a:srgbClr val="1F4E79"/>
                  </a:solidFill>
                </a:rPr>
                <a:t>TOPI</a:t>
              </a:r>
              <a:r>
                <a:rPr lang="zh-CN" altLang="en-US" sz="1400" dirty="0">
                  <a:solidFill>
                    <a:srgbClr val="1F4E79"/>
                  </a:solidFill>
                </a:rPr>
                <a:t>库中算子；</a:t>
              </a:r>
              <a:endParaRPr lang="en-US" altLang="zh-CN" sz="1400" dirty="0">
                <a:solidFill>
                  <a:srgbClr val="1F4E79"/>
                </a:solidFill>
              </a:endParaRPr>
            </a:p>
            <a:p>
              <a:r>
                <a:rPr lang="zh-CN" altLang="en-US" sz="1400" dirty="0">
                  <a:solidFill>
                    <a:srgbClr val="1F4E79"/>
                  </a:solidFill>
                </a:rPr>
                <a:t>               </a:t>
              </a:r>
              <a:endParaRPr lang="zh-CN" altLang="en-US" sz="1400" dirty="0"/>
            </a:p>
          </p:txBody>
        </p:sp>
        <p:sp>
          <p:nvSpPr>
            <p:cNvPr id="12" name="MH_SubTitle_2">
              <a:extLst>
                <a:ext uri="{FF2B5EF4-FFF2-40B4-BE49-F238E27FC236}">
                  <a16:creationId xmlns:a16="http://schemas.microsoft.com/office/drawing/2014/main" id="{8D6C826A-0A2D-4234-88FD-BB68B57DA9E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6200000">
              <a:off x="3575919" y="1880837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2A93862-4DB3-4A9E-BF61-44CDAC8E6280}"/>
                </a:ext>
              </a:extLst>
            </p:cNvPr>
            <p:cNvSpPr txBox="1"/>
            <p:nvPr/>
          </p:nvSpPr>
          <p:spPr>
            <a:xfrm>
              <a:off x="1406951" y="2889080"/>
              <a:ext cx="609442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1F4E79"/>
                  </a:solidFill>
                </a:rPr>
                <a:t>同样会调用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LowerInternal</a:t>
              </a:r>
              <a:r>
                <a:rPr lang="zh-CN" altLang="en-US" sz="1400" dirty="0">
                  <a:solidFill>
                    <a:srgbClr val="1F4E79"/>
                  </a:solidFill>
                </a:rPr>
                <a:t>函数，首先建立</a:t>
              </a:r>
              <a:r>
                <a:rPr lang="en-US" altLang="zh-CN" sz="1400" dirty="0">
                  <a:solidFill>
                    <a:srgbClr val="1F4E79"/>
                  </a:solidFill>
                </a:rPr>
                <a:t>schedule</a:t>
              </a:r>
              <a:r>
                <a:rPr lang="zh-CN" altLang="en-US" sz="1400" dirty="0">
                  <a:solidFill>
                    <a:srgbClr val="1F4E79"/>
                  </a:solidFill>
                </a:rPr>
                <a:t>，在</a:t>
              </a:r>
              <a:r>
                <a:rPr lang="en-US" altLang="zh-CN" sz="1400" dirty="0">
                  <a:solidFill>
                    <a:srgbClr val="1F4E79"/>
                  </a:solidFill>
                </a:rPr>
                <a:t>Create</a:t>
              </a:r>
              <a:r>
                <a:rPr lang="zh-CN" altLang="en-US" sz="1400" dirty="0">
                  <a:solidFill>
                    <a:srgbClr val="1F4E79"/>
                  </a:solidFill>
                </a:rPr>
                <a:t>函数中，首先将</a:t>
              </a:r>
              <a:r>
                <a:rPr lang="en-US" altLang="zh-CN" sz="1400" dirty="0">
                  <a:solidFill>
                    <a:srgbClr val="1F4E79"/>
                  </a:solidFill>
                </a:rPr>
                <a:t>inputs</a:t>
              </a:r>
              <a:r>
                <a:rPr lang="zh-CN" altLang="en-US" sz="1400" dirty="0">
                  <a:solidFill>
                    <a:srgbClr val="1F4E79"/>
                  </a:solidFill>
                </a:rPr>
                <a:t>都转换成</a:t>
              </a:r>
              <a:r>
                <a:rPr lang="en-US" altLang="zh-CN" sz="1400" dirty="0">
                  <a:solidFill>
                    <a:srgbClr val="1F4E79"/>
                  </a:solidFill>
                </a:rPr>
                <a:t>te</a:t>
              </a:r>
              <a:r>
                <a:rPr lang="zh-CN" altLang="en-US" sz="1400" dirty="0">
                  <a:solidFill>
                    <a:srgbClr val="1F4E79"/>
                  </a:solidFill>
                </a:rPr>
                <a:t>的算子表示；</a:t>
              </a:r>
              <a:endParaRPr lang="en-US" altLang="zh-CN" sz="1400" dirty="0">
                <a:solidFill>
                  <a:srgbClr val="1F4E79"/>
                </a:solidFill>
              </a:endParaRPr>
            </a:p>
            <a:p>
              <a:endParaRPr lang="zh-CN" altLang="en-US" sz="1400" dirty="0"/>
            </a:p>
          </p:txBody>
        </p:sp>
        <p:sp>
          <p:nvSpPr>
            <p:cNvPr id="14" name="MH_SubTitle_2">
              <a:extLst>
                <a:ext uri="{FF2B5EF4-FFF2-40B4-BE49-F238E27FC236}">
                  <a16:creationId xmlns:a16="http://schemas.microsoft.com/office/drawing/2014/main" id="{7A2CFDEC-115A-4CB8-B110-50A176846F2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3575919" y="2702015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1814501-E1E4-470E-9BE5-BD589D0DE043}"/>
                </a:ext>
              </a:extLst>
            </p:cNvPr>
            <p:cNvSpPr txBox="1"/>
            <p:nvPr/>
          </p:nvSpPr>
          <p:spPr>
            <a:xfrm>
              <a:off x="1670900" y="3658424"/>
              <a:ext cx="648328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1F4E79"/>
                  </a:solidFill>
                </a:rPr>
                <a:t>然后遍历其它</a:t>
              </a:r>
              <a:r>
                <a:rPr lang="en-US" altLang="zh-CN" sz="1400" dirty="0">
                  <a:solidFill>
                    <a:srgbClr val="1F4E79"/>
                  </a:solidFill>
                </a:rPr>
                <a:t>node</a:t>
              </a:r>
              <a:r>
                <a:rPr lang="zh-CN" altLang="en-US" sz="1400" dirty="0">
                  <a:solidFill>
                    <a:srgbClr val="1F4E79"/>
                  </a:solidFill>
                </a:rPr>
                <a:t>来实现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</a:t>
              </a:r>
              <a:r>
                <a:rPr lang="zh-CN" altLang="en-US" sz="1400" dirty="0">
                  <a:solidFill>
                    <a:srgbClr val="1F4E79"/>
                  </a:solidFill>
                </a:rPr>
                <a:t>操作，这里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</a:t>
              </a:r>
              <a:r>
                <a:rPr lang="zh-CN" altLang="en-US" sz="1400" dirty="0">
                  <a:solidFill>
                    <a:srgbClr val="1F4E79"/>
                  </a:solidFill>
                </a:rPr>
                <a:t>操作会去调用</a:t>
              </a:r>
              <a:r>
                <a:rPr lang="en-US" altLang="zh-CN" sz="1400" dirty="0">
                  <a:solidFill>
                    <a:srgbClr val="1F4E79"/>
                  </a:solidFill>
                </a:rPr>
                <a:t>python</a:t>
              </a:r>
              <a:r>
                <a:rPr lang="zh-CN" altLang="en-US" sz="1400" dirty="0">
                  <a:solidFill>
                    <a:srgbClr val="1F4E79"/>
                  </a:solidFill>
                </a:rPr>
                <a:t>中注册的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lower_call</a:t>
              </a:r>
              <a:r>
                <a:rPr lang="zh-CN" altLang="en-US" sz="1400" dirty="0">
                  <a:solidFill>
                    <a:srgbClr val="1F4E79"/>
                  </a:solidFill>
                </a:rPr>
                <a:t>函数，这个函数位于</a:t>
              </a:r>
              <a:r>
                <a:rPr lang="en-US" altLang="zh-CN" sz="1400" dirty="0">
                  <a:solidFill>
                    <a:srgbClr val="1F4E79"/>
                  </a:solidFill>
                </a:rPr>
                <a:t>te_compiler.py</a:t>
              </a:r>
              <a:r>
                <a:rPr lang="zh-CN" altLang="en-US" sz="1400" dirty="0">
                  <a:solidFill>
                    <a:srgbClr val="1F4E79"/>
                  </a:solidFill>
                </a:rPr>
                <a:t>里面的</a:t>
              </a:r>
              <a:r>
                <a:rPr lang="en-US" altLang="zh-CN" sz="1400" dirty="0">
                  <a:solidFill>
                    <a:srgbClr val="1F4E79"/>
                  </a:solidFill>
                </a:rPr>
                <a:t>select_implementation</a:t>
              </a:r>
              <a:endParaRPr lang="zh-CN" altLang="en-US" sz="1400" dirty="0">
                <a:solidFill>
                  <a:srgbClr val="1F4E79"/>
                </a:solidFill>
              </a:endParaRPr>
            </a:p>
          </p:txBody>
        </p:sp>
        <p:sp>
          <p:nvSpPr>
            <p:cNvPr id="19" name="MH_SubTitle_2">
              <a:extLst>
                <a:ext uri="{FF2B5EF4-FFF2-40B4-BE49-F238E27FC236}">
                  <a16:creationId xmlns:a16="http://schemas.microsoft.com/office/drawing/2014/main" id="{CC3C63B9-E991-4D6C-9C81-1BC75C17527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6200000">
              <a:off x="3575918" y="3470300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  <p:sp>
          <p:nvSpPr>
            <p:cNvPr id="20" name="MH_SubTitle_2">
              <a:extLst>
                <a:ext uri="{FF2B5EF4-FFF2-40B4-BE49-F238E27FC236}">
                  <a16:creationId xmlns:a16="http://schemas.microsoft.com/office/drawing/2014/main" id="{A1E4040B-42AC-4612-A931-9664A86428B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6200000">
              <a:off x="3575919" y="4257828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A0CFC14-EF07-42A6-815A-10B3ED368E2B}"/>
                </a:ext>
              </a:extLst>
            </p:cNvPr>
            <p:cNvSpPr txBox="1"/>
            <p:nvPr/>
          </p:nvSpPr>
          <p:spPr>
            <a:xfrm>
              <a:off x="1948037" y="4428973"/>
              <a:ext cx="66209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1F4E79"/>
                  </a:solidFill>
                </a:rPr>
                <a:t>select_implementation</a:t>
              </a:r>
              <a:r>
                <a:rPr lang="zh-CN" altLang="en-US" sz="1400" dirty="0">
                  <a:solidFill>
                    <a:srgbClr val="1F4E79"/>
                  </a:solidFill>
                </a:rPr>
                <a:t>去选择</a:t>
              </a:r>
              <a:r>
                <a:rPr lang="en-US" altLang="zh-CN" sz="1400" dirty="0">
                  <a:solidFill>
                    <a:srgbClr val="1F4E79"/>
                  </a:solidFill>
                </a:rPr>
                <a:t>relay</a:t>
              </a:r>
              <a:r>
                <a:rPr lang="zh-CN" altLang="en-US" sz="1400" dirty="0">
                  <a:solidFill>
                    <a:srgbClr val="1F4E79"/>
                  </a:solidFill>
                </a:rPr>
                <a:t>算子的一个</a:t>
              </a:r>
              <a:r>
                <a:rPr lang="en-US" altLang="zh-CN" sz="1400" dirty="0">
                  <a:solidFill>
                    <a:srgbClr val="1F4E79"/>
                  </a:solidFill>
                </a:rPr>
                <a:t>TOPI</a:t>
              </a:r>
              <a:r>
                <a:rPr lang="zh-CN" altLang="en-US" sz="1400" dirty="0">
                  <a:solidFill>
                    <a:srgbClr val="1F4E79"/>
                  </a:solidFill>
                </a:rPr>
                <a:t>层级的实现方式。同一个</a:t>
              </a:r>
              <a:r>
                <a:rPr lang="en-US" altLang="zh-CN" sz="1400" dirty="0">
                  <a:solidFill>
                    <a:srgbClr val="1F4E79"/>
                  </a:solidFill>
                </a:rPr>
                <a:t>relay</a:t>
              </a:r>
              <a:r>
                <a:rPr lang="zh-CN" altLang="en-US" sz="1400" dirty="0">
                  <a:solidFill>
                    <a:srgbClr val="1F4E79"/>
                  </a:solidFill>
                </a:rPr>
                <a:t>算子在不同</a:t>
              </a:r>
              <a:r>
                <a:rPr lang="en-US" altLang="zh-CN" sz="1400" dirty="0">
                  <a:solidFill>
                    <a:srgbClr val="1F4E79"/>
                  </a:solidFill>
                </a:rPr>
                <a:t>target</a:t>
              </a:r>
              <a:r>
                <a:rPr lang="zh-CN" altLang="en-US" sz="1400" dirty="0">
                  <a:solidFill>
                    <a:srgbClr val="1F4E79"/>
                  </a:solidFill>
                </a:rPr>
                <a:t>上有不同实现方式，具体采用哪种方式要依据</a:t>
              </a:r>
              <a:r>
                <a:rPr lang="en-US" altLang="zh-CN" sz="1400" dirty="0">
                  <a:solidFill>
                    <a:srgbClr val="1F4E79"/>
                  </a:solidFill>
                </a:rPr>
                <a:t>target</a:t>
              </a:r>
              <a:r>
                <a:rPr lang="zh-CN" altLang="en-US" sz="1400" dirty="0">
                  <a:solidFill>
                    <a:srgbClr val="1F4E79"/>
                  </a:solidFill>
                </a:rPr>
                <a:t>的属性。</a:t>
              </a:r>
            </a:p>
          </p:txBody>
        </p:sp>
        <p:sp>
          <p:nvSpPr>
            <p:cNvPr id="23" name="MH_SubTitle_2">
              <a:extLst>
                <a:ext uri="{FF2B5EF4-FFF2-40B4-BE49-F238E27FC236}">
                  <a16:creationId xmlns:a16="http://schemas.microsoft.com/office/drawing/2014/main" id="{B9B6062C-340E-437B-B678-47B9F20AC73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3575919" y="5030638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F56BFCF-B8E1-4670-BB15-F64488EC7FEB}"/>
                </a:ext>
              </a:extLst>
            </p:cNvPr>
            <p:cNvSpPr txBox="1"/>
            <p:nvPr/>
          </p:nvSpPr>
          <p:spPr>
            <a:xfrm>
              <a:off x="2211287" y="5237772"/>
              <a:ext cx="662092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1F4E79"/>
                  </a:solidFill>
                </a:rPr>
                <a:t>获得了所有有效</a:t>
              </a:r>
              <a:r>
                <a:rPr lang="en-US" altLang="zh-CN" sz="1400" dirty="0">
                  <a:solidFill>
                    <a:srgbClr val="1F4E79"/>
                  </a:solidFill>
                </a:rPr>
                <a:t>implementation</a:t>
              </a:r>
              <a:r>
                <a:rPr lang="zh-CN" altLang="en-US" sz="1400" dirty="0">
                  <a:solidFill>
                    <a:srgbClr val="1F4E79"/>
                  </a:solidFill>
                </a:rPr>
                <a:t>之后，会依据两种方式选择，一种是通过</a:t>
              </a:r>
              <a:r>
                <a:rPr lang="en-US" altLang="zh-CN" sz="1400" dirty="0">
                  <a:solidFill>
                    <a:srgbClr val="1F4E79"/>
                  </a:solidFill>
                </a:rPr>
                <a:t>auto TVM</a:t>
              </a:r>
              <a:r>
                <a:rPr lang="zh-CN" altLang="en-US" sz="1400" dirty="0">
                  <a:solidFill>
                    <a:srgbClr val="1F4E79"/>
                  </a:solidFill>
                </a:rPr>
                <a:t>来自动化搜索最优的实现方式，另外一种在不适用</a:t>
              </a:r>
              <a:r>
                <a:rPr lang="en-US" altLang="zh-CN" sz="1400" dirty="0">
                  <a:solidFill>
                    <a:srgbClr val="1F4E79"/>
                  </a:solidFill>
                </a:rPr>
                <a:t>auto TVM</a:t>
              </a:r>
              <a:r>
                <a:rPr lang="zh-CN" altLang="en-US" sz="1400" dirty="0">
                  <a:solidFill>
                    <a:srgbClr val="1F4E79"/>
                  </a:solidFill>
                </a:rPr>
                <a:t>工具情况下，会选择</a:t>
              </a:r>
              <a:r>
                <a:rPr lang="en-US" altLang="zh-CN" sz="1400" dirty="0">
                  <a:solidFill>
                    <a:srgbClr val="1F4E79"/>
                  </a:solidFill>
                </a:rPr>
                <a:t>plevel</a:t>
              </a:r>
              <a:r>
                <a:rPr lang="zh-CN" altLang="en-US" sz="1400" dirty="0">
                  <a:solidFill>
                    <a:srgbClr val="1F4E79"/>
                  </a:solidFill>
                </a:rPr>
                <a:t>最大的</a:t>
              </a:r>
              <a:r>
                <a:rPr lang="en-US" altLang="zh-CN" sz="1400" dirty="0">
                  <a:solidFill>
                    <a:srgbClr val="1F4E79"/>
                  </a:solidFill>
                </a:rPr>
                <a:t>implementation</a:t>
              </a:r>
              <a:r>
                <a:rPr lang="zh-CN" altLang="en-US" sz="1400" dirty="0">
                  <a:solidFill>
                    <a:srgbClr val="1F4E79"/>
                  </a:solidFill>
                </a:rPr>
                <a:t>。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DCA365B-548B-4FFD-B75F-B0B71117DC6B}"/>
                </a:ext>
              </a:extLst>
            </p:cNvPr>
            <p:cNvSpPr txBox="1"/>
            <p:nvPr/>
          </p:nvSpPr>
          <p:spPr>
            <a:xfrm>
              <a:off x="2474537" y="6237693"/>
              <a:ext cx="60944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1F4E79"/>
                  </a:solidFill>
                </a:rPr>
                <a:t>选择好了</a:t>
              </a:r>
              <a:r>
                <a:rPr lang="en-US" altLang="zh-CN" sz="1400" dirty="0">
                  <a:solidFill>
                    <a:srgbClr val="1F4E79"/>
                  </a:solidFill>
                </a:rPr>
                <a:t>implementation</a:t>
              </a:r>
              <a:r>
                <a:rPr lang="zh-CN" altLang="en-US" sz="1400" dirty="0">
                  <a:solidFill>
                    <a:srgbClr val="1F4E79"/>
                  </a:solidFill>
                </a:rPr>
                <a:t>之后，就调用的</a:t>
              </a:r>
              <a:r>
                <a:rPr lang="en-US" altLang="zh-CN" sz="1400" dirty="0">
                  <a:solidFill>
                    <a:srgbClr val="1F4E79"/>
                  </a:solidFill>
                </a:rPr>
                <a:t>LoweredOutput</a:t>
              </a:r>
              <a:r>
                <a:rPr lang="zh-CN" altLang="en-US" sz="1400" dirty="0">
                  <a:solidFill>
                    <a:srgbClr val="1F4E79"/>
                  </a:solidFill>
                </a:rPr>
                <a:t>类建立一个实例</a:t>
              </a:r>
            </a:p>
          </p:txBody>
        </p:sp>
        <p:sp>
          <p:nvSpPr>
            <p:cNvPr id="28" name="MH_SubTitle_2">
              <a:extLst>
                <a:ext uri="{FF2B5EF4-FFF2-40B4-BE49-F238E27FC236}">
                  <a16:creationId xmlns:a16="http://schemas.microsoft.com/office/drawing/2014/main" id="{2187D588-DEF0-403D-A00D-C59DD62A652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rot="16200000">
              <a:off x="3575917" y="5997201"/>
              <a:ext cx="307776" cy="126846"/>
            </a:xfrm>
            <a:custGeom>
              <a:avLst/>
              <a:gdLst>
                <a:gd name="connsiteX0" fmla="*/ 520353 w 3024977"/>
                <a:gd name="connsiteY0" fmla="*/ 0 h 790148"/>
                <a:gd name="connsiteX1" fmla="*/ 520353 w 3024977"/>
                <a:gd name="connsiteY1" fmla="*/ 154147 h 790148"/>
                <a:gd name="connsiteX2" fmla="*/ 3024977 w 3024977"/>
                <a:gd name="connsiteY2" fmla="*/ 154147 h 790148"/>
                <a:gd name="connsiteX3" fmla="*/ 3024977 w 3024977"/>
                <a:gd name="connsiteY3" fmla="*/ 636001 h 790148"/>
                <a:gd name="connsiteX4" fmla="*/ 520353 w 3024977"/>
                <a:gd name="connsiteY4" fmla="*/ 636001 h 790148"/>
                <a:gd name="connsiteX5" fmla="*/ 520353 w 3024977"/>
                <a:gd name="connsiteY5" fmla="*/ 790148 h 790148"/>
                <a:gd name="connsiteX6" fmla="*/ 0 w 3024977"/>
                <a:gd name="connsiteY6" fmla="*/ 395074 h 79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4977" h="790148">
                  <a:moveTo>
                    <a:pt x="520353" y="0"/>
                  </a:moveTo>
                  <a:lnTo>
                    <a:pt x="520353" y="154147"/>
                  </a:lnTo>
                  <a:lnTo>
                    <a:pt x="3024977" y="154147"/>
                  </a:lnTo>
                  <a:lnTo>
                    <a:pt x="3024977" y="636001"/>
                  </a:lnTo>
                  <a:lnTo>
                    <a:pt x="520353" y="636001"/>
                  </a:lnTo>
                  <a:lnTo>
                    <a:pt x="520353" y="790148"/>
                  </a:lnTo>
                  <a:lnTo>
                    <a:pt x="0" y="39507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25000" lnSpcReduction="20000"/>
            </a:bodyPr>
            <a:lstStyle/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E85CF301-3A54-45A6-83FD-5016986A7173}"/>
              </a:ext>
            </a:extLst>
          </p:cNvPr>
          <p:cNvSpPr txBox="1"/>
          <p:nvPr/>
        </p:nvSpPr>
        <p:spPr>
          <a:xfrm>
            <a:off x="7416649" y="971955"/>
            <a:ext cx="487063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dirty="0">
                <a:solidFill>
                  <a:srgbClr val="1F4E79"/>
                </a:solidFill>
              </a:rPr>
              <a:t>lower_call</a:t>
            </a:r>
            <a:r>
              <a:rPr lang="zh-CN" altLang="en-US" sz="1400" dirty="0">
                <a:solidFill>
                  <a:srgbClr val="1F4E79"/>
                </a:solidFill>
              </a:rPr>
              <a:t>实现了将</a:t>
            </a:r>
            <a:r>
              <a:rPr lang="en-US" altLang="zh-CN" sz="1400" dirty="0">
                <a:solidFill>
                  <a:srgbClr val="1F4E79"/>
                </a:solidFill>
              </a:rPr>
              <a:t>relay</a:t>
            </a:r>
            <a:r>
              <a:rPr lang="zh-CN" altLang="en-US" sz="1400" dirty="0">
                <a:solidFill>
                  <a:srgbClr val="1F4E79"/>
                </a:solidFill>
              </a:rPr>
              <a:t>算子统一用更底层的的抽象进行了表示。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 algn="l"/>
            <a:endParaRPr lang="en-US" altLang="zh-CN" sz="1400" dirty="0">
              <a:solidFill>
                <a:srgbClr val="1F4E79"/>
              </a:solidFill>
            </a:endParaRPr>
          </a:p>
          <a:p>
            <a:pPr algn="l"/>
            <a:r>
              <a:rPr lang="zh-CN" altLang="en-US" sz="1400" dirty="0">
                <a:solidFill>
                  <a:srgbClr val="1F4E79"/>
                </a:solidFill>
              </a:rPr>
              <a:t>这种表示中包含了</a:t>
            </a:r>
            <a:r>
              <a:rPr lang="en-US" altLang="zh-CN" sz="1400" dirty="0">
                <a:solidFill>
                  <a:srgbClr val="1F4E79"/>
                </a:solidFill>
              </a:rPr>
              <a:t>relay</a:t>
            </a:r>
            <a:r>
              <a:rPr lang="zh-CN" altLang="en-US" sz="1400" dirty="0">
                <a:solidFill>
                  <a:srgbClr val="1F4E79"/>
                </a:solidFill>
              </a:rPr>
              <a:t>算子，以及这个算子的计算方式以及</a:t>
            </a:r>
            <a:r>
              <a:rPr lang="en-US" altLang="zh-CN" sz="1400" dirty="0">
                <a:solidFill>
                  <a:srgbClr val="1F4E79"/>
                </a:solidFill>
              </a:rPr>
              <a:t>schedule</a:t>
            </a:r>
            <a:r>
              <a:rPr lang="zh-CN" altLang="en-US" sz="1400" dirty="0">
                <a:solidFill>
                  <a:srgbClr val="1F4E79"/>
                </a:solidFill>
              </a:rPr>
              <a:t>信息。这样就方便后边对其进行</a:t>
            </a:r>
            <a:r>
              <a:rPr lang="en-US" altLang="zh-CN" sz="1400" dirty="0">
                <a:solidFill>
                  <a:srgbClr val="1F4E79"/>
                </a:solidFill>
              </a:rPr>
              <a:t>schedule</a:t>
            </a:r>
            <a:r>
              <a:rPr lang="zh-CN" altLang="en-US" sz="1400" dirty="0">
                <a:solidFill>
                  <a:srgbClr val="1F4E79"/>
                </a:solidFill>
              </a:rPr>
              <a:t>优化了。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 algn="l"/>
            <a:endParaRPr lang="zh-CN" altLang="en-US" sz="1400" dirty="0">
              <a:solidFill>
                <a:srgbClr val="1F4E79"/>
              </a:solidFill>
            </a:endParaRPr>
          </a:p>
          <a:p>
            <a:pPr algn="l"/>
            <a:r>
              <a:rPr lang="zh-CN" altLang="en-US" sz="1400" dirty="0">
                <a:solidFill>
                  <a:srgbClr val="1F4E79"/>
                </a:solidFill>
              </a:rPr>
              <a:t>然后将这些</a:t>
            </a:r>
            <a:r>
              <a:rPr lang="en-US" altLang="zh-CN" sz="1400" dirty="0">
                <a:solidFill>
                  <a:srgbClr val="1F4E79"/>
                </a:solidFill>
              </a:rPr>
              <a:t>LoweredOutput</a:t>
            </a:r>
            <a:r>
              <a:rPr lang="zh-CN" altLang="en-US" sz="1400" dirty="0">
                <a:solidFill>
                  <a:srgbClr val="1F4E79"/>
                </a:solidFill>
              </a:rPr>
              <a:t>进行打包成</a:t>
            </a:r>
            <a:r>
              <a:rPr lang="en-US" altLang="zh-CN" sz="1400" dirty="0">
                <a:solidFill>
                  <a:srgbClr val="1F4E79"/>
                </a:solidFill>
              </a:rPr>
              <a:t>CachedFuncNode</a:t>
            </a:r>
            <a:r>
              <a:rPr lang="zh-CN" altLang="en-US" sz="1400" dirty="0">
                <a:solidFill>
                  <a:srgbClr val="1F4E79"/>
                </a:solidFill>
              </a:rPr>
              <a:t>，作为后边</a:t>
            </a:r>
            <a:r>
              <a:rPr lang="en-US" altLang="zh-CN" sz="1400" dirty="0">
                <a:solidFill>
                  <a:srgbClr val="1F4E79"/>
                </a:solidFill>
              </a:rPr>
              <a:t>schedule</a:t>
            </a:r>
            <a:r>
              <a:rPr lang="zh-CN" altLang="en-US" sz="1400" dirty="0">
                <a:solidFill>
                  <a:srgbClr val="1F4E79"/>
                </a:solidFill>
              </a:rPr>
              <a:t>优化的入参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25125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85533" y="5021816"/>
            <a:ext cx="26496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</a:p>
        </p:txBody>
      </p:sp>
      <p:sp>
        <p:nvSpPr>
          <p:cNvPr id="6" name="矩形 5"/>
          <p:cNvSpPr/>
          <p:nvPr/>
        </p:nvSpPr>
        <p:spPr>
          <a:xfrm>
            <a:off x="5251728" y="-8021"/>
            <a:ext cx="12041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Q&amp;A</a:t>
            </a:r>
            <a:endParaRPr lang="zh-CN" alt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7D1347-CFC2-4FCC-A0B5-748C80B51431}"/>
              </a:ext>
            </a:extLst>
          </p:cNvPr>
          <p:cNvSpPr txBox="1"/>
          <p:nvPr/>
        </p:nvSpPr>
        <p:spPr>
          <a:xfrm>
            <a:off x="2142242" y="1836184"/>
            <a:ext cx="812354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F4E79"/>
                </a:solidFill>
              </a:rPr>
              <a:t>参考资料:</a:t>
            </a:r>
            <a:endParaRPr lang="en-US" altLang="zh-CN" sz="2000" dirty="0">
              <a:solidFill>
                <a:srgbClr val="1F4E79"/>
              </a:solidFill>
            </a:endParaRPr>
          </a:p>
          <a:p>
            <a:endParaRPr lang="en-US" altLang="zh-CN" dirty="0"/>
          </a:p>
          <a:p>
            <a:r>
              <a:rPr lang="zh-CN" altLang="en-US" dirty="0">
                <a:hlinkClick r:id="rId3"/>
              </a:rPr>
              <a:t>https://arxiv.org/pdf/2006.06762.pdf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https://github.com/apache/tvm</a:t>
            </a:r>
            <a:endParaRPr lang="en-US" altLang="zh-CN" dirty="0"/>
          </a:p>
          <a:p>
            <a:r>
              <a:rPr lang="zh-CN" altLang="en-US" dirty="0">
                <a:hlinkClick r:id="rId5"/>
              </a:rPr>
              <a:t>https://zhuanlan.zhihu.com/p/390783734</a:t>
            </a:r>
            <a:endParaRPr lang="en-US" altLang="zh-CN" dirty="0"/>
          </a:p>
          <a:p>
            <a:r>
              <a:rPr lang="zh-CN" altLang="en-US" dirty="0">
                <a:hlinkClick r:id="rId6"/>
              </a:rPr>
              <a:t>https://zhuanlan.zhihu.com/p/360041136</a:t>
            </a:r>
            <a:endParaRPr lang="en-US" altLang="zh-CN" dirty="0"/>
          </a:p>
          <a:p>
            <a:r>
              <a:rPr lang="zh-CN" altLang="en-US" dirty="0">
                <a:hlinkClick r:id="rId7"/>
              </a:rPr>
              <a:t>https://aijishu.com/a/1060000000222107</a:t>
            </a:r>
            <a:endParaRPr lang="en-US" altLang="zh-CN" dirty="0"/>
          </a:p>
          <a:p>
            <a:r>
              <a:rPr lang="zh-CN" altLang="en-US" dirty="0">
                <a:hlinkClick r:id="rId8"/>
              </a:rPr>
              <a:t>https://zhuanlan.zhihu.com/p/374516615</a:t>
            </a:r>
            <a:endParaRPr lang="en-US" altLang="zh-CN" dirty="0"/>
          </a:p>
          <a:p>
            <a:r>
              <a:rPr lang="zh-CN" altLang="en-US" dirty="0">
                <a:hlinkClick r:id="rId9"/>
              </a:rPr>
              <a:t>https://zhuanlan.zhihu.com/p/343654464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3343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1230127"/>
  <p:tag name="MH_LIBRARY" val="GRAPHIC"/>
  <p:tag name="MH_TYPE" val="SubTitle"/>
  <p:tag name="MH_ORDER" val="2"/>
</p:tagLst>
</file>

<file path=ppt/theme/theme1.xml><?xml version="1.0" encoding="utf-8"?>
<a:theme xmlns:a="http://schemas.openxmlformats.org/drawingml/2006/main" name="模板页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12779</TotalTime>
  <Words>2417</Words>
  <Application>Microsoft Office PowerPoint</Application>
  <PresentationFormat>宽屏</PresentationFormat>
  <Paragraphs>225</Paragraphs>
  <Slides>26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-apple-system</vt:lpstr>
      <vt:lpstr>等线</vt:lpstr>
      <vt:lpstr>微软雅黑</vt:lpstr>
      <vt:lpstr>Arial</vt:lpstr>
      <vt:lpstr>Century Gothic</vt:lpstr>
      <vt:lpstr>Segoe UI Light</vt:lpstr>
      <vt:lpstr>模板页面</vt:lpstr>
      <vt:lpstr>OfficePLUS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Shankun Wang</cp:lastModifiedBy>
  <cp:revision>1909</cp:revision>
  <dcterms:created xsi:type="dcterms:W3CDTF">2015-08-18T02:51:41Z</dcterms:created>
  <dcterms:modified xsi:type="dcterms:W3CDTF">2022-03-23T11:43:23Z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2017-12-21T07:59:31.6634599Z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